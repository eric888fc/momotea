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78B2CF1-C75D-4F7E-A100-BD5A6AD9CF12}">
  <a:tblStyle styleId="{178B2CF1-C75D-4F7E-A100-BD5A6AD9CF1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970359D5-66E4-4F31-8F93-66B10F3B2B4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91e49a6e6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91e49a6e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91e49a6e6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91e49a6e6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91e49a6e6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91e49a6e6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92400b42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92400b42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92400b42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92400b42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92400b42d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92400b42d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92400b42d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92400b42d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92400b42d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92400b42d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92400b42d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92400b42d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92400b42d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92400b42d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92400b42d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92400b42d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92400b42d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92400b42d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92400b42d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92400b42d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92400b42d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a92400b42d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92400b42d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a92400b42d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92400b42d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a92400b42d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92400b42d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a92400b42d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93c521bf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a93c521bf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93c521bf0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a93c521bf0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93c521bf0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a93c521bf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93c521bf0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a93c521bf0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93c521bf0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a93c521bf0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a93c521bf0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a93c521bf0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93c521bf0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a93c521bf0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a93c521bf0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a93c521bf0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a93c521bf0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a93c521bf0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a93c521bf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a93c521bf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a93c521bf0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a93c521bf0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a93c521bf0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a93c521bf0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a93c521bf0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a93c521bf0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a93c521bf0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a93c521bf0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a93c521bf0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a93c521bf0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a93c521bf0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a93c521bf0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a93c521bf0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a93c521bf0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專案名稱: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全端電商平台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成員: Eric, Vincent, Stone, Barry, Alex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大綱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1.專案介紹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2.使用案例（Use Case）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3.系統功能說明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4.資料庫模型圖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5.前端程式架構說明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6.後端程式架構說明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專案介紹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這是一個功能完整的全端電商平台專案，模擬一個多賣家 (Multi-Seller) 的市集（如蝦皮或 Amazon）。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* </a:t>
            </a:r>
            <a:r>
              <a:rPr b="1" lang="en" sz="1600">
                <a:solidFill>
                  <a:schemeClr val="dk1"/>
                </a:solidFill>
                <a:highlight>
                  <a:schemeClr val="lt1"/>
                </a:highlight>
              </a:rPr>
              <a:t>**後端 (Backend):**</a:t>
            </a: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 使用 Java Spring Boot 構建，包含 JWT 安全認證、RESTful API、JPA 資料庫管理和多角色權限控制。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* </a:t>
            </a:r>
            <a:r>
              <a:rPr b="1" lang="en" sz="1600">
                <a:solidFill>
                  <a:schemeClr val="dk1"/>
                </a:solidFill>
                <a:highlight>
                  <a:schemeClr val="lt1"/>
                </a:highlight>
              </a:rPr>
              <a:t>**前端 (Frontend):**</a:t>
            </a: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 使用 Vanilla JavaScript (ES6+), HTML5, 和 CSS3 構建，不依賴任何框架 (like React/Vue)，專注於透過 `fetch` API 實作非同步 (Async/Await) 頁面渲染。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使用案例（Use Case</a:t>
            </a:r>
            <a:r>
              <a:rPr lang="en"/>
              <a:t>）</a:t>
            </a:r>
            <a:endParaRPr/>
          </a:p>
        </p:txBody>
      </p:sp>
      <p:graphicFrame>
        <p:nvGraphicFramePr>
          <p:cNvPr id="73" name="Google Shape;73;p16"/>
          <p:cNvGraphicFramePr/>
          <p:nvPr/>
        </p:nvGraphicFramePr>
        <p:xfrm>
          <a:off x="311700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{178B2CF1-C75D-4F7E-A100-BD5A6AD9CF12}</a:tableStyleId>
              </a:tblPr>
              <a:tblGrid>
                <a:gridCol w="1136925"/>
                <a:gridCol w="2580825"/>
                <a:gridCol w="3410775"/>
                <a:gridCol w="1489375"/>
              </a:tblGrid>
              <a:tr h="333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項目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使用案例 (Use Case)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包含功能/說明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相關角色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用戶認證 (Authentication)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註冊、登入、發送 Email 驗證碼、重設密碼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Public, Buyer, Seller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II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商品瀏覽 (Product Browsing)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瀏覽商品列表、查看商品詳情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Public, Buyer, Seller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III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購物車管理 (Cart Management)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加入購物車、修改/刪除購物車項目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Buyer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IV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訂單結帳 (Order Checkout)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執行結帳流程，自動進行多賣家拆單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Buyer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V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買家訂單查詢 (Buyer Order Inquiry)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查詢買家自己的訂單列表與詳情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Buyer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5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VI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評價管理 (Rating Management)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買家： 建立/更新商品評價 。賣家： 查詢商品評價 。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Buyer, Seller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VII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買家錢包儲值 (Buyer Wallet Top-up)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增加電子錢包餘額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Buyer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VIII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賣家商品管理 (Seller Product Mgt.)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新增商品 (上架)、修改/刪除商品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Seller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IX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賣家訂單查詢 (Seller Order Inquiry)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查詢賣家收到的訂單列表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Seller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賣家提款管理 (Seller Withdrawal)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設定提款帳戶、申請錢包提款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Seller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系統功能說明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61">
                <a:solidFill>
                  <a:schemeClr val="dk1"/>
                </a:solidFill>
              </a:rPr>
              <a:t>頁面區域：買家/賣家登入、產品列表、訂單、購物車</a:t>
            </a:r>
            <a:endParaRPr b="1" sz="176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61">
                <a:solidFill>
                  <a:schemeClr val="dk1"/>
                </a:solidFill>
              </a:rPr>
              <a:t>主要功能 : </a:t>
            </a:r>
            <a:endParaRPr b="1" sz="176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61">
                <a:solidFill>
                  <a:schemeClr val="dk1"/>
                </a:solidFill>
                <a:highlight>
                  <a:schemeClr val="lt1"/>
                </a:highlight>
              </a:rPr>
              <a:t>買/賣家帳戶註冊&amp;登入, </a:t>
            </a:r>
            <a:endParaRPr b="1" sz="1761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61">
                <a:solidFill>
                  <a:schemeClr val="dk1"/>
                </a:solidFill>
                <a:highlight>
                  <a:schemeClr val="lt1"/>
                </a:highlight>
              </a:rPr>
              <a:t>產品顯示, </a:t>
            </a:r>
            <a:endParaRPr b="1" sz="1761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61">
                <a:solidFill>
                  <a:schemeClr val="dk1"/>
                </a:solidFill>
                <a:highlight>
                  <a:schemeClr val="lt1"/>
                </a:highlight>
              </a:rPr>
              <a:t>商品評價, </a:t>
            </a:r>
            <a:endParaRPr b="1" sz="1761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61">
                <a:solidFill>
                  <a:schemeClr val="dk1"/>
                </a:solidFill>
                <a:highlight>
                  <a:schemeClr val="lt1"/>
                </a:highlight>
              </a:rPr>
              <a:t>購物車, </a:t>
            </a:r>
            <a:endParaRPr b="1" sz="1761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61">
                <a:solidFill>
                  <a:schemeClr val="dk1"/>
                </a:solidFill>
                <a:highlight>
                  <a:schemeClr val="lt1"/>
                </a:highlight>
              </a:rPr>
              <a:t>訂單管理,</a:t>
            </a:r>
            <a:endParaRPr b="1" sz="1761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61">
                <a:solidFill>
                  <a:schemeClr val="dk1"/>
                </a:solidFill>
                <a:highlight>
                  <a:schemeClr val="lt1"/>
                </a:highlight>
              </a:rPr>
              <a:t>買家電子錢包儲值, </a:t>
            </a:r>
            <a:endParaRPr b="1" sz="1761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61">
                <a:solidFill>
                  <a:schemeClr val="dk1"/>
                </a:solidFill>
                <a:highlight>
                  <a:schemeClr val="lt1"/>
                </a:highlight>
              </a:rPr>
              <a:t>賣家收款</a:t>
            </a:r>
            <a:endParaRPr b="1" sz="1761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24">
                <a:solidFill>
                  <a:schemeClr val="dk1"/>
                </a:solidFill>
                <a:highlight>
                  <a:schemeClr val="lt1"/>
                </a:highlight>
              </a:rPr>
              <a:t>後台管理(報表生成)		</a:t>
            </a:r>
            <a:r>
              <a:rPr lang="en" sz="1763">
                <a:solidFill>
                  <a:schemeClr val="dk1"/>
                </a:solidFill>
                <a:highlight>
                  <a:schemeClr val="lt1"/>
                </a:highlight>
              </a:rPr>
              <a:t>	</a:t>
            </a:r>
            <a:endParaRPr sz="1563">
              <a:solidFill>
                <a:srgbClr val="F0F6FC"/>
              </a:solidFill>
              <a:highlight>
                <a:srgbClr val="0D1117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	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登入系統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首頁預設會顯示登入畫面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輸入您的帳號密碼，例如：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帳號：admin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密碼：1234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按下「登入」按鈕後，右上角會顯示登入成功訊息（例如：歡迎admin）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瀏覽產品 - </a:t>
            </a:r>
            <a:r>
              <a:rPr lang="en" sz="2800"/>
              <a:t>商城首頁</a:t>
            </a:r>
            <a:endParaRPr sz="3800"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登入成功後 系統直接進入”商城首頁” 會列出目前可購買的商品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每個商品旁邊有「加入購物車」按鈕，可以將想要的商品放入購物車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管理購物車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點選「購物車」進入購物車畫面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可以看到已經加入的商品清單，包括商品名稱、價格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可以刪除購物車中的商品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底部會顯示總金額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送出訂單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點選結帳按鈕後 會從錢包餘額中扣款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查詢歷史訂單</a:t>
            </a:r>
            <a:endParaRPr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點選「我的訂單」進入訂單管理畫面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系統會列出目前帳號所有歷史訂單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點擊訂單旁的「查看詳情」按鈕，可以展開該筆訂單內的所有商品內容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45025"/>
            <a:ext cx="2132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資料庫模型圖</a:t>
            </a:r>
            <a:endParaRPr/>
          </a:p>
        </p:txBody>
      </p:sp>
      <p:pic>
        <p:nvPicPr>
          <p:cNvPr id="115" name="Google Shape;11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0650" y="0"/>
            <a:ext cx="508463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資料庫模型圖說明 </a:t>
            </a:r>
            <a:r>
              <a:rPr lang="en" sz="2750"/>
              <a:t>- </a:t>
            </a:r>
            <a:r>
              <a:rPr lang="en" sz="2750">
                <a:highlight>
                  <a:schemeClr val="lt1"/>
                </a:highlight>
              </a:rPr>
              <a:t>使用者 &amp; 認證 (User &amp; Auth)</a:t>
            </a:r>
            <a:endParaRPr sz="275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  <a:t>users: 核心使用者表 role 欄位 ('BUYER' / 'SELLER') 用於區分角色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  <a:t>password_reset_tokens: 存放「忘記密碼」時產生的一次性 Token 關聯 user_id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highlight>
                  <a:schemeClr val="lt1"/>
                </a:highlight>
              </a:rPr>
              <a:t>商品 &amp; 分類 (Product &amp; Catalog)</a:t>
            </a:r>
            <a:endParaRPr sz="2500">
              <a:highlight>
                <a:schemeClr val="lt1"/>
              </a:highlight>
            </a:endParaRPr>
          </a:p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  <a:t>categories: 商品分類表 parent_category_id 欄位（關聯自己）用於實現樹狀分類結構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  <a:t>products: 商品主表 關聯 seller_id (賣家) 和 category_id (分類)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  <a:t>product_ratings: 商品評價表  它不直接關聯 products，而是關聯 order_item_id 以確保只有已購買的買家才能評價。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40000"/>
              <a:buFont typeface="Arial"/>
              <a:buNone/>
            </a:pPr>
            <a:r>
              <a:rPr lang="en" sz="2750">
                <a:highlight>
                  <a:schemeClr val="lt1"/>
                </a:highlight>
              </a:rPr>
              <a:t>購物車 &amp; 訂單 (Cart &amp; Order)</a:t>
            </a:r>
            <a:endParaRPr sz="275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  <a:t>orders: 訂單主表 包含 buyer_id 和 seller_id 用於實現「</a:t>
            </a:r>
            <a:r>
              <a:rPr b="1" lang="en" sz="2000">
                <a:solidFill>
                  <a:schemeClr val="dk1"/>
                </a:solidFill>
                <a:highlight>
                  <a:schemeClr val="lt1"/>
                </a:highlight>
              </a:rPr>
              <a:t>多賣家拆單</a:t>
            </a: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  <a:t>」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  <a:t>order_items: 訂單項目表 這是訂單成立時的「商品快照」 儲存了當時的 price_per_unit (單價快照) 確保歷史價格不會變動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  <a:t>carts: 購物車主表 每個買家 (user_id) 擁有一個購物車 (一對一)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  <a:t>cart_items: 購物車項目表 存放當前在購物車中的商品 (product_id) 和數量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F0F6FC"/>
              </a:solidFill>
              <a:highlight>
                <a:srgbClr val="0D1117"/>
              </a:highlight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1200"/>
              </a:spcAft>
              <a:buNone/>
            </a:pPr>
            <a:r>
              <a:rPr lang="en" sz="2500">
                <a:highlight>
                  <a:schemeClr val="lt1"/>
                </a:highlight>
              </a:rPr>
              <a:t>金流 &amp; 帳戶 (Wallet &amp; Finance)</a:t>
            </a:r>
            <a:endParaRPr sz="2500">
              <a:highlight>
                <a:schemeClr val="lt1"/>
              </a:highlight>
            </a:endParaRPr>
          </a:p>
        </p:txBody>
      </p:sp>
      <p:sp>
        <p:nvSpPr>
          <p:cNvPr id="139" name="Google Shape;139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  <a:t>wallets: 電子錢包 每個 user_id (無論買家或賣家) 都有一個錢包 (一對一) 用於儲存 balance (餘額)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  <a:t>wallet_transactions: 錢包交易紀錄 wallets 的流水帳 記錄 TOPUP PAYMENT (支付)  WITHDRAWAL (提款) 等所有變動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  <a:t>bank_accounts: 賣家銀行帳戶 user_id (賣家) 用於提款的銀行資料 (一對一)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前端程式</a:t>
            </a:r>
            <a:endParaRPr/>
          </a:p>
        </p:txBody>
      </p:sp>
      <p:sp>
        <p:nvSpPr>
          <p:cNvPr id="145" name="Google Shape;145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1. 登入功能：驗證用戶輸入的帳號密碼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2. 商品資料展示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3. 加入購物車功能：點擊產品按鈕後，將商品加入購物車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4. 送出訂單功能：計算總金額並送出訂單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5. 買家儲值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6. 買家評論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7. 後台報表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/>
          <p:nvPr>
            <p:ph type="title"/>
          </p:nvPr>
        </p:nvSpPr>
        <p:spPr>
          <a:xfrm>
            <a:off x="311700" y="49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API 呼叫流程整理</a:t>
            </a:r>
            <a:endParaRPr/>
          </a:p>
        </p:txBody>
      </p:sp>
      <p:graphicFrame>
        <p:nvGraphicFramePr>
          <p:cNvPr id="151" name="Google Shape;151;p29"/>
          <p:cNvGraphicFramePr/>
          <p:nvPr/>
        </p:nvGraphicFramePr>
        <p:xfrm>
          <a:off x="987175" y="675175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0D1117"/>
                </a:solidFill>
                <a:tableStyleId>{178B2CF1-C75D-4F7E-A100-BD5A6AD9CF12}</a:tableStyleId>
              </a:tblPr>
              <a:tblGrid>
                <a:gridCol w="2065000"/>
                <a:gridCol w="2146825"/>
                <a:gridCol w="2627275"/>
              </a:tblGrid>
              <a:tr h="374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2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</a:rPr>
                        <a:t>路徑</a:t>
                      </a:r>
                      <a:endParaRPr b="1" sz="12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2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</a:rPr>
                        <a:t>控制器</a:t>
                      </a:r>
                      <a:endParaRPr b="1" sz="12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2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</a:rPr>
                        <a:t>目的</a:t>
                      </a:r>
                      <a:endParaRPr b="1" sz="12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4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/api/auth/**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AuthController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</a:rPr>
                        <a:t>處理所有登入、註冊和 Token</a:t>
                      </a:r>
                      <a:endParaRPr sz="12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4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/api/public/**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PublicProductController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</a:rPr>
                        <a:t>公開的商品和評價查詢</a:t>
                      </a:r>
                      <a:endParaRPr sz="12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4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/api/profile/me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ProfileController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</a:rPr>
                        <a:t>（需登入）獲取/更新個人資料</a:t>
                      </a:r>
                      <a:endParaRPr sz="12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4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/api/wallet/**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WalletController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</a:rPr>
                        <a:t>（需登入）錢包餘額、儲值/提款</a:t>
                      </a:r>
                      <a:endParaRPr sz="12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4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/api/cart/**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CartController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</a:rPr>
                        <a:t>（買家） 購物車管理</a:t>
                      </a:r>
                      <a:endParaRPr sz="12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4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/api/orders/**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OrderController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</a:rPr>
                        <a:t>（買家） 結帳與訂單查詢</a:t>
                      </a:r>
                      <a:endParaRPr sz="12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4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/api/ratings/**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RatingController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</a:rPr>
                        <a:t>（買家） 新增/更新評價</a:t>
                      </a:r>
                      <a:endParaRPr sz="12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4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/api/seller/account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BankAccountController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</a:rPr>
                        <a:t>（賣家） 收款帳戶管理</a:t>
                      </a:r>
                      <a:endParaRPr sz="12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4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/api/seller/orders/**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SellerOrderController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</a:rPr>
                        <a:t>（賣家） 查詢收到的訂單</a:t>
                      </a:r>
                      <a:endParaRPr sz="12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4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/api/seller/ratings/**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SellerRatingController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</a:rPr>
                        <a:t>（賣家） 查詢收到的評價</a:t>
                      </a:r>
                      <a:endParaRPr sz="12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/>
          <p:cNvSpPr txBox="1"/>
          <p:nvPr>
            <p:ph type="title"/>
          </p:nvPr>
        </p:nvSpPr>
        <p:spPr>
          <a:xfrm>
            <a:off x="311700" y="0"/>
            <a:ext cx="285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前端畫面區塊程式</a:t>
            </a:r>
            <a:endParaRPr/>
          </a:p>
        </p:txBody>
      </p:sp>
      <p:graphicFrame>
        <p:nvGraphicFramePr>
          <p:cNvPr id="157" name="Google Shape;157;p30"/>
          <p:cNvGraphicFramePr/>
          <p:nvPr/>
        </p:nvGraphicFramePr>
        <p:xfrm>
          <a:off x="148875" y="667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{970359D5-66E4-4F31-8F93-66B10F3B2B4B}</a:tableStyleId>
              </a:tblPr>
              <a:tblGrid>
                <a:gridCol w="3619500"/>
                <a:gridCol w="51250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區塊名稱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說明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登入區塊 (#login)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使用者輸入帳密(/login.html)，點擊登入按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鈕(/login.js)，</a:t>
                      </a:r>
                      <a:r>
                        <a:rPr lang="en">
                          <a:solidFill>
                            <a:srgbClr val="666666"/>
                          </a:solidFill>
                        </a:rPr>
                        <a:t>呼叫 AuthController的/api/auth/login</a:t>
                      </a:r>
                      <a:r>
                        <a:rPr lang="en"/>
                        <a:t> 產生JWT Token </a:t>
                      </a:r>
                      <a:r>
                        <a:rPr lang="en">
                          <a:solidFill>
                            <a:srgbClr val="666666"/>
                          </a:solidFill>
                        </a:rPr>
                        <a:t>(透過JwtUtil.generateToken(user))</a:t>
                      </a:r>
                      <a:r>
                        <a:rPr lang="en"/>
                        <a:t>.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66666"/>
                          </a:solidFill>
                        </a:rPr>
                        <a:t>然後判斷買家, 賣家, 或登入失敗.</a:t>
                      </a:r>
                      <a:endParaRPr>
                        <a:solidFill>
                          <a:srgbClr val="666666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66666"/>
                          </a:solidFill>
                        </a:rPr>
                        <a:t>驗證通過後, </a:t>
                      </a:r>
                      <a:r>
                        <a:rPr lang="en"/>
                        <a:t>將Token, Role存入local storage(使用者電腦), </a:t>
                      </a:r>
                      <a:r>
                        <a:rPr lang="en">
                          <a:solidFill>
                            <a:srgbClr val="666666"/>
                          </a:solidFill>
                        </a:rPr>
                        <a:t>但Token有有效期(設定在application.properties), 所以時間到, Token還是會失效(Server端為主). </a:t>
                      </a:r>
                      <a:endParaRPr>
                        <a:solidFill>
                          <a:srgbClr val="666666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後端回傳401表示Token(密碼)錯誤. 如果顯示'登入API錯誤', 表示CORS跨網域失敗.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產品列表 (#products)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點選商城首頁 (/products.html), </a:t>
                      </a:r>
                      <a:r>
                        <a:rPr lang="en">
                          <a:solidFill>
                            <a:schemeClr val="dk2"/>
                          </a:solidFill>
                        </a:rPr>
                        <a:t>呼叫 </a:t>
                      </a:r>
                      <a:r>
                        <a:rPr lang="en">
                          <a:solidFill>
                            <a:schemeClr val="dk2"/>
                          </a:solidFill>
                          <a:highlight>
                            <a:schemeClr val="lt1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api/public/products(ProductController)回傳的資料顯示於頁面</a:t>
                      </a:r>
                      <a:endParaRPr sz="1700">
                        <a:solidFill>
                          <a:schemeClr val="dk2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購物車 (#cart)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顯示目前購物車內容(/cart.html/js)CartController(/api/cart/)，可刪除商品、送出訂單cart.js</a:t>
                      </a:r>
                      <a:r>
                        <a:rPr lang="en">
                          <a:solidFill>
                            <a:srgbClr val="434343"/>
                          </a:solidFill>
                        </a:rPr>
                        <a:t>（呼叫/api/orders/checkout ）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訂單管理 (#orders)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顯示我的歷史訂單/api/orders.html, </a:t>
                      </a:r>
                      <a:r>
                        <a:rPr lang="en">
                          <a:solidFill>
                            <a:schemeClr val="dk2"/>
                          </a:solidFill>
                          <a:highlight>
                            <a:schemeClr val="lt1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呼叫(/api/orders/me)</a:t>
                      </a:r>
                      <a:endParaRPr>
                        <a:solidFill>
                          <a:schemeClr val="dk2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1"/>
          <p:cNvSpPr txBox="1"/>
          <p:nvPr>
            <p:ph type="title"/>
          </p:nvPr>
        </p:nvSpPr>
        <p:spPr>
          <a:xfrm>
            <a:off x="42900" y="8475"/>
            <a:ext cx="1104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登入功能</a:t>
            </a:r>
            <a:endParaRPr sz="2000"/>
          </a:p>
        </p:txBody>
      </p:sp>
      <p:pic>
        <p:nvPicPr>
          <p:cNvPr id="163" name="Google Shape;163;p31" title="Screenshot from 2025-11-25 01-33-43.png"/>
          <p:cNvPicPr preferRelativeResize="0"/>
          <p:nvPr/>
        </p:nvPicPr>
        <p:blipFill rotWithShape="1">
          <a:blip r:embed="rId3">
            <a:alphaModFix/>
          </a:blip>
          <a:srcRect b="0" l="3762" r="0" t="1690"/>
          <a:stretch/>
        </p:blipFill>
        <p:spPr>
          <a:xfrm>
            <a:off x="254275" y="413625"/>
            <a:ext cx="8231626" cy="4729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2"/>
          <p:cNvSpPr txBox="1"/>
          <p:nvPr>
            <p:ph type="title"/>
          </p:nvPr>
        </p:nvSpPr>
        <p:spPr>
          <a:xfrm>
            <a:off x="0" y="0"/>
            <a:ext cx="1577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顯示商品</a:t>
            </a:r>
            <a:endParaRPr/>
          </a:p>
        </p:txBody>
      </p:sp>
      <p:pic>
        <p:nvPicPr>
          <p:cNvPr id="169" name="Google Shape;169;p32" title="Screenshot from 2025-11-25 01-40-38.png"/>
          <p:cNvPicPr preferRelativeResize="0"/>
          <p:nvPr/>
        </p:nvPicPr>
        <p:blipFill rotWithShape="1">
          <a:blip r:embed="rId3">
            <a:alphaModFix/>
          </a:blip>
          <a:srcRect b="-3932" l="4080" r="-2398" t="5855"/>
          <a:stretch/>
        </p:blipFill>
        <p:spPr>
          <a:xfrm>
            <a:off x="138025" y="617500"/>
            <a:ext cx="8065574" cy="4525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3"/>
          <p:cNvSpPr txBox="1"/>
          <p:nvPr>
            <p:ph type="title"/>
          </p:nvPr>
        </p:nvSpPr>
        <p:spPr>
          <a:xfrm>
            <a:off x="0" y="0"/>
            <a:ext cx="1882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加入購物車</a:t>
            </a:r>
            <a:endParaRPr/>
          </a:p>
        </p:txBody>
      </p:sp>
      <p:pic>
        <p:nvPicPr>
          <p:cNvPr id="175" name="Google Shape;175;p33" title="Screenshot from 2025-11-25 12-43-46.png"/>
          <p:cNvPicPr preferRelativeResize="0"/>
          <p:nvPr/>
        </p:nvPicPr>
        <p:blipFill rotWithShape="1">
          <a:blip r:embed="rId3">
            <a:alphaModFix/>
          </a:blip>
          <a:srcRect b="0" l="3353" r="0" t="2761"/>
          <a:stretch/>
        </p:blipFill>
        <p:spPr>
          <a:xfrm>
            <a:off x="348700" y="475400"/>
            <a:ext cx="8143877" cy="460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4"/>
          <p:cNvSpPr txBox="1"/>
          <p:nvPr>
            <p:ph type="title"/>
          </p:nvPr>
        </p:nvSpPr>
        <p:spPr>
          <a:xfrm>
            <a:off x="0" y="0"/>
            <a:ext cx="1926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購物車更新</a:t>
            </a:r>
            <a:endParaRPr/>
          </a:p>
        </p:txBody>
      </p:sp>
      <p:pic>
        <p:nvPicPr>
          <p:cNvPr id="181" name="Google Shape;181;p34" title="Screenshot from 2025-11-25 12-52-52.png"/>
          <p:cNvPicPr preferRelativeResize="0"/>
          <p:nvPr/>
        </p:nvPicPr>
        <p:blipFill rotWithShape="1">
          <a:blip r:embed="rId3">
            <a:alphaModFix/>
          </a:blip>
          <a:srcRect b="0" l="3353" r="0" t="5141"/>
          <a:stretch/>
        </p:blipFill>
        <p:spPr>
          <a:xfrm>
            <a:off x="305125" y="572700"/>
            <a:ext cx="7991299" cy="44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5"/>
          <p:cNvSpPr txBox="1"/>
          <p:nvPr>
            <p:ph type="title"/>
          </p:nvPr>
        </p:nvSpPr>
        <p:spPr>
          <a:xfrm>
            <a:off x="0" y="0"/>
            <a:ext cx="541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5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handleCheckout（）</a:t>
            </a:r>
            <a:r>
              <a:rPr b="1" lang="en">
                <a:highlight>
                  <a:schemeClr val="lt1"/>
                </a:highlight>
              </a:rPr>
              <a:t>提交訂單功能</a:t>
            </a:r>
            <a:endParaRPr b="1">
              <a:highlight>
                <a:schemeClr val="lt1"/>
              </a:highlight>
            </a:endParaRPr>
          </a:p>
        </p:txBody>
      </p:sp>
      <p:pic>
        <p:nvPicPr>
          <p:cNvPr id="187" name="Google Shape;187;p35" title="Screenshot from 2025-11-25 13-52-58.png"/>
          <p:cNvPicPr preferRelativeResize="0"/>
          <p:nvPr/>
        </p:nvPicPr>
        <p:blipFill rotWithShape="1">
          <a:blip r:embed="rId3">
            <a:alphaModFix/>
          </a:blip>
          <a:srcRect b="11411" l="2872" r="54883" t="13659"/>
          <a:stretch/>
        </p:blipFill>
        <p:spPr>
          <a:xfrm>
            <a:off x="4450376" y="515825"/>
            <a:ext cx="4528973" cy="4518701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5"/>
          <p:cNvSpPr txBox="1"/>
          <p:nvPr/>
        </p:nvSpPr>
        <p:spPr>
          <a:xfrm>
            <a:off x="77500" y="572700"/>
            <a:ext cx="4162500" cy="45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購物車結帳流程（handleCheckout）：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功能：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1.確認購物車是否有商品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2.檢查錢包餘額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3.將獲得的購物車內容 POST 請求至後端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邏輯：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用Token的方式取得購物車資料。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取得購物車內容並讀取 totalPrice。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假如錢包餘額不足，顯示錯誤並提示儲值，流程中止。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若餘額足夠，停用結帳與清空按鈕。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呼叫後端 建立訂單。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若成功：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顯示成功訊息，包含訂單張數。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延遲 1 秒更新錢包與購物車資料。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若失敗：顯示錯誤訊息（後端 message 或預設提示）。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不論成功失敗，最後都會重新啟用按鈕。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6"/>
          <p:cNvSpPr txBox="1"/>
          <p:nvPr>
            <p:ph type="title"/>
          </p:nvPr>
        </p:nvSpPr>
        <p:spPr>
          <a:xfrm>
            <a:off x="0" y="0"/>
            <a:ext cx="50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5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renderCart </a:t>
            </a:r>
            <a:r>
              <a:rPr lang="en">
                <a:highlight>
                  <a:schemeClr val="lt1"/>
                </a:highlight>
              </a:rPr>
              <a:t>顯示訂單清單</a:t>
            </a:r>
            <a:endParaRPr>
              <a:highlight>
                <a:schemeClr val="lt1"/>
              </a:highlight>
            </a:endParaRPr>
          </a:p>
        </p:txBody>
      </p:sp>
      <p:pic>
        <p:nvPicPr>
          <p:cNvPr id="194" name="Google Shape;194;p36" title="Screenshot from 2025-11-25 14-52-3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99" y="572700"/>
            <a:ext cx="4571999" cy="4505672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6"/>
          <p:cNvSpPr txBox="1"/>
          <p:nvPr/>
        </p:nvSpPr>
        <p:spPr>
          <a:xfrm>
            <a:off x="0" y="572700"/>
            <a:ext cx="4184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1.Token獲取後端購物車內容(cart.js, fetchMyCart())，檢查購物有沒有商品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2.renderCart() 建立顯示畫面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fetchOrderDetails(orderId) - </a:t>
            </a:r>
            <a:r>
              <a:rPr lang="en"/>
              <a:t>顯示特定訂單詳細資料</a:t>
            </a:r>
            <a:endParaRPr/>
          </a:p>
        </p:txBody>
      </p:sp>
      <p:pic>
        <p:nvPicPr>
          <p:cNvPr id="201" name="Google Shape;201;p37" title="Screenshot from 2025-11-25 15-17-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3267" y="1017725"/>
            <a:ext cx="4270734" cy="4125774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7"/>
          <p:cNvSpPr txBox="1"/>
          <p:nvPr/>
        </p:nvSpPr>
        <p:spPr>
          <a:xfrm>
            <a:off x="387600" y="1017725"/>
            <a:ext cx="4184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功能：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1.顯示特定訂單內容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2.呼叫 renderOrderDetails(order) 來繪製顯示畫面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後端架構概述</a:t>
            </a:r>
            <a:endParaRPr/>
          </a:p>
        </p:txBody>
      </p:sp>
      <p:sp>
        <p:nvSpPr>
          <p:cNvPr id="208" name="Google Shape;208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使用 Spring Boot 框架建構 RESTful API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模型層 (Model) ：定義資料結構 (JAP PO -&gt; VO)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控制層 (Controller) ：處理前端請求(controller-&gt;service-&gt;DAO JPA Repository)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資料存取層 (DAO) ：連接資料庫 (JPA Repository)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使用 JWT 驗證用戶身份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資料庫：儲存使用者, 商品, 訂單明細, 電子錢包, 銀行餘額, 購物車資料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9"/>
          <p:cNvSpPr txBox="1"/>
          <p:nvPr>
            <p:ph type="title"/>
          </p:nvPr>
        </p:nvSpPr>
        <p:spPr>
          <a:xfrm>
            <a:off x="311700" y="445025"/>
            <a:ext cx="4260300" cy="63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JWT 驗證與帳號 - JwtUtil </a:t>
            </a:r>
            <a:endParaRPr/>
          </a:p>
        </p:txBody>
      </p:sp>
      <p:sp>
        <p:nvSpPr>
          <p:cNvPr id="214" name="Google Shape;214;p39"/>
          <p:cNvSpPr txBox="1"/>
          <p:nvPr/>
        </p:nvSpPr>
        <p:spPr>
          <a:xfrm>
            <a:off x="2064800" y="1075325"/>
            <a:ext cx="26961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產生 JWT : (右圖)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generateToken() 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建立或是獲取資訊提供JWT產生字串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&lt;加入額外資訊: role, user id&gt;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產生JWT字串: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createToken() 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有效期: application.properties裡設定</a:t>
            </a:r>
            <a:endParaRPr sz="1200">
              <a:solidFill>
                <a:schemeClr val="dk2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jwt.expiration.ms=86400000 //24小時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15" name="Google Shape;215;p39" title="Screenshot from 2025-11-25 17-14-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0900" y="445025"/>
            <a:ext cx="4286312" cy="483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39" title="Screenshot from 2025-11-25 17-31-0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061025"/>
            <a:ext cx="4127400" cy="2063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9"/>
          <p:cNvSpPr txBox="1"/>
          <p:nvPr/>
        </p:nvSpPr>
        <p:spPr>
          <a:xfrm>
            <a:off x="0" y="2506925"/>
            <a:ext cx="1358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驗證</a:t>
            </a:r>
            <a:r>
              <a:rPr lang="en" sz="1200">
                <a:solidFill>
                  <a:schemeClr val="dk2"/>
                </a:solidFill>
              </a:rPr>
              <a:t>JWT : (下圖)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isTokenValid() 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0"/>
          <p:cNvSpPr txBox="1"/>
          <p:nvPr>
            <p:ph type="title"/>
          </p:nvPr>
        </p:nvSpPr>
        <p:spPr>
          <a:xfrm>
            <a:off x="311700" y="445025"/>
            <a:ext cx="448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AuthController</a:t>
            </a:r>
            <a:r>
              <a:rPr lang="en" sz="2500">
                <a:highlight>
                  <a:schemeClr val="lt1"/>
                </a:highlight>
              </a:rPr>
              <a:t> </a:t>
            </a:r>
            <a:r>
              <a:rPr lang="en" sz="2500"/>
              <a:t>功能簡介</a:t>
            </a:r>
            <a:endParaRPr sz="2500"/>
          </a:p>
        </p:txBody>
      </p:sp>
      <p:sp>
        <p:nvSpPr>
          <p:cNvPr id="223" name="Google Shape;223;p40"/>
          <p:cNvSpPr txBox="1"/>
          <p:nvPr/>
        </p:nvSpPr>
        <p:spPr>
          <a:xfrm>
            <a:off x="311700" y="1017725"/>
            <a:ext cx="87216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@ResController, @RequestMapping("/api/auth") 定義REST API端點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@Autowired: 注入UserService, JwtUtil, UserDAO, PasswordEncoder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使用jwtUtil.generateToken(user): 當使用者登入後, 系統會產生帳號名稱(email), 角色(買家或賣家), User ID, 簽發時間, 有效期限的JWT Token.</a:t>
            </a:r>
            <a:endParaRPr sz="180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ourier New"/>
              <a:buChar char="●"/>
            </a:pPr>
            <a:r>
              <a:rPr lang="en" sz="180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HS256演算法進行加密簽章</a:t>
            </a:r>
            <a:endParaRPr sz="180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登入驗證API - AuthController</a:t>
            </a:r>
            <a:endParaRPr/>
          </a:p>
        </p:txBody>
      </p:sp>
      <p:sp>
        <p:nvSpPr>
          <p:cNvPr id="229" name="Google Shape;229;p41"/>
          <p:cNvSpPr txBox="1"/>
          <p:nvPr>
            <p:ph idx="1" type="body"/>
          </p:nvPr>
        </p:nvSpPr>
        <p:spPr>
          <a:xfrm>
            <a:off x="311700" y="1152475"/>
            <a:ext cx="8520600" cy="3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9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@PostMapping</a:t>
            </a:r>
            <a:r>
              <a:rPr b="1" lang="en" sz="9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("/login")	// "/api/auth/login"</a:t>
            </a:r>
            <a:endParaRPr b="1" sz="9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public ResponseEntity&lt;?&gt; login(</a:t>
            </a:r>
            <a:r>
              <a:rPr b="1" i="1" lang="en" sz="9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@Valid</a:t>
            </a:r>
            <a:r>
              <a:rPr b="1" lang="en" sz="9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1" lang="en" sz="9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@RequestBody</a:t>
            </a:r>
            <a:r>
              <a:rPr b="1" lang="en" sz="9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LoginRequestVO requestVO) {</a:t>
            </a:r>
            <a:endParaRPr b="1" sz="9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try {</a:t>
            </a:r>
            <a:endParaRPr b="1" sz="9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// 1. 呼叫 Service 驗證帳號密碼</a:t>
            </a:r>
            <a:endParaRPr b="1" sz="9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UserPO user = userService.login(requestVO);</a:t>
            </a:r>
            <a:endParaRPr b="1" sz="9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// 2. 產生 JWT Token</a:t>
            </a:r>
            <a:endParaRPr b="1" sz="9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String token = jwtUtil.generateToken(user);</a:t>
            </a:r>
            <a:endParaRPr b="1" sz="9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// 3. 回傳包含 token + adminCode 的資訊</a:t>
            </a:r>
            <a:endParaRPr b="1" sz="9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return ResponseEntity.</a:t>
            </a:r>
            <a:r>
              <a:rPr b="1" i="1" lang="en" sz="9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ok</a:t>
            </a:r>
            <a:r>
              <a:rPr b="1" lang="en" sz="9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b="1" sz="9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new AuthResponseVO(</a:t>
            </a:r>
            <a:endParaRPr b="1" sz="9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    "登入成功",</a:t>
            </a:r>
            <a:endParaRPr b="1" sz="9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    user.getUserId(),</a:t>
            </a:r>
            <a:endParaRPr b="1" sz="9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    user.getName(),</a:t>
            </a:r>
            <a:endParaRPr b="1" sz="9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    user.getEmail(),</a:t>
            </a:r>
            <a:endParaRPr b="1" sz="9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    user.getRole(),</a:t>
            </a:r>
            <a:endParaRPr b="1" sz="9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    token,</a:t>
            </a:r>
            <a:endParaRPr b="1" sz="9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    user.getAdminCode() // 一般使用者通常是 null</a:t>
            </a:r>
            <a:endParaRPr b="1" sz="9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)</a:t>
            </a:r>
            <a:endParaRPr b="1" sz="9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);</a:t>
            </a:r>
            <a:endParaRPr b="1" sz="9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} catch (Exception e) {</a:t>
            </a:r>
            <a:endParaRPr b="1" sz="9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return ResponseEntity.</a:t>
            </a:r>
            <a:r>
              <a:rPr b="1" i="1" lang="en" sz="9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status</a:t>
            </a:r>
            <a:r>
              <a:rPr b="1" lang="en" sz="9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1" lang="en" sz="9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HttpStatus</a:t>
            </a:r>
            <a:r>
              <a:rPr b="1" lang="en" sz="9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i="1" lang="en" sz="9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UNAUTHORIZED</a:t>
            </a:r>
            <a:r>
              <a:rPr b="1" lang="en" sz="9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).body(e.getMessage());</a:t>
            </a:r>
            <a:endParaRPr b="1" sz="9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b="1" sz="9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b="1" sz="9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2"/>
          <p:cNvSpPr txBox="1"/>
          <p:nvPr>
            <p:ph type="title"/>
          </p:nvPr>
        </p:nvSpPr>
        <p:spPr>
          <a:xfrm>
            <a:off x="311700" y="30925"/>
            <a:ext cx="276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 實體類別</a:t>
            </a:r>
            <a:endParaRPr/>
          </a:p>
        </p:txBody>
      </p:sp>
      <p:sp>
        <p:nvSpPr>
          <p:cNvPr id="235" name="Google Shape;235;p42"/>
          <p:cNvSpPr txBox="1"/>
          <p:nvPr>
            <p:ph idx="1" type="body"/>
          </p:nvPr>
        </p:nvSpPr>
        <p:spPr>
          <a:xfrm>
            <a:off x="311700" y="603625"/>
            <a:ext cx="2907300" cy="15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chemeClr val="lt1"/>
                </a:highlight>
              </a:rPr>
              <a:t>/**</a:t>
            </a:r>
            <a:endParaRPr sz="11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chemeClr val="lt1"/>
                </a:highlight>
              </a:rPr>
              <a:t>* PO (Entity) - 對應 `products` 商品資料表</a:t>
            </a:r>
            <a:endParaRPr sz="11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chemeClr val="lt1"/>
                </a:highlight>
              </a:rPr>
              <a:t>*/</a:t>
            </a:r>
            <a:endParaRPr sz="11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highlight>
                  <a:schemeClr val="lt1"/>
                </a:highlight>
              </a:rPr>
              <a:t>@Entity</a:t>
            </a:r>
            <a:endParaRPr i="1" sz="11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highlight>
                  <a:schemeClr val="lt1"/>
                </a:highlight>
              </a:rPr>
              <a:t>@Table</a:t>
            </a:r>
            <a:r>
              <a:rPr lang="en" sz="1100">
                <a:solidFill>
                  <a:schemeClr val="dk1"/>
                </a:solidFill>
                <a:highlight>
                  <a:schemeClr val="lt1"/>
                </a:highlight>
              </a:rPr>
              <a:t>(name = "products")</a:t>
            </a:r>
            <a:endParaRPr sz="11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highlight>
                  <a:schemeClr val="lt1"/>
                </a:highlight>
              </a:rPr>
              <a:t>@Data</a:t>
            </a:r>
            <a:endParaRPr i="1" sz="11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highlight>
                  <a:schemeClr val="lt1"/>
                </a:highlight>
              </a:rPr>
              <a:t>@NoArgsConstructor</a:t>
            </a:r>
            <a:endParaRPr i="1" sz="11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chemeClr val="lt1"/>
                </a:highlight>
              </a:rPr>
              <a:t>public class ProductPO {</a:t>
            </a:r>
            <a:endParaRPr/>
          </a:p>
        </p:txBody>
      </p:sp>
      <p:graphicFrame>
        <p:nvGraphicFramePr>
          <p:cNvPr id="236" name="Google Shape;236;p42"/>
          <p:cNvGraphicFramePr/>
          <p:nvPr/>
        </p:nvGraphicFramePr>
        <p:xfrm>
          <a:off x="3218975" y="1545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{970359D5-66E4-4F31-8F93-66B10F3B2B4B}</a:tableStyleId>
              </a:tblPr>
              <a:tblGrid>
                <a:gridCol w="1944575"/>
                <a:gridCol w="1944575"/>
                <a:gridCol w="1944575"/>
              </a:tblGrid>
              <a:tr h="40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欄位名稱（Database）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說明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備註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40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product_id</a:t>
                      </a:r>
                      <a:endParaRPr sz="9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商品主鍵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PK(Primary Key)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40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seller_id</a:t>
                      </a:r>
                      <a:endParaRPr sz="9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關聯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FK(</a:t>
                      </a:r>
                      <a:r>
                        <a:rPr lang="en" sz="900">
                          <a:solidFill>
                            <a:schemeClr val="dk1"/>
                          </a:solidFill>
                        </a:rPr>
                        <a:t>Foreign Key </a:t>
                      </a:r>
                      <a:r>
                        <a:rPr lang="en" sz="900"/>
                        <a:t>)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40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category_id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商品分類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"</a:t>
                      </a:r>
                      <a:r>
                        <a:rPr lang="en" sz="900"/>
                        <a:t>電子產品</a:t>
                      </a:r>
                      <a:r>
                        <a:rPr lang="en" sz="900"/>
                        <a:t>", "</a:t>
                      </a:r>
                      <a:r>
                        <a:rPr lang="en" sz="900"/>
                        <a:t>食品</a:t>
                      </a:r>
                      <a:r>
                        <a:rPr lang="en" sz="900"/>
                        <a:t>" 等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40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name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商品名稱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最長 255 字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582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description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商品敘述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TEXT（</a:t>
                      </a:r>
                      <a:r>
                        <a:rPr lang="en" sz="900">
                          <a:solidFill>
                            <a:schemeClr val="dk1"/>
                          </a:solidFill>
                        </a:rPr>
                        <a:t>約能儲存 16,383 個中文字元</a:t>
                      </a:r>
                      <a:r>
                        <a:rPr lang="en" sz="900"/>
                        <a:t>）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582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price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商品價格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最多可儲存 10 位數字，其中有 2 位是小數位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40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stock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庫存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integer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40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image_url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照片連結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最長 255 字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40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created_at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時間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建立時間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40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updated_at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時間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更新時間</a:t>
                      </a:r>
                      <a:endParaRPr sz="9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ProductController</a:t>
            </a:r>
            <a:endParaRPr/>
          </a:p>
        </p:txBody>
      </p:sp>
      <p:sp>
        <p:nvSpPr>
          <p:cNvPr id="242" name="Google Shape;242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/>
              <a:t>@ResController, @RequestMapping("/api/products") 定義REST API端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/>
              <a:t>@Autowired: 注入 </a:t>
            </a:r>
            <a:r>
              <a:rPr lang="en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ProductService (只有seller可以訪問), JPA Repository</a:t>
            </a:r>
            <a:endParaRPr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●"/>
            </a:pPr>
            <a:r>
              <a:rPr lang="en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使用 MySQL 資料庫，儲存產品資料 (products 表)</a:t>
            </a:r>
            <a:endParaRPr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 實體類別</a:t>
            </a:r>
            <a:endParaRPr/>
          </a:p>
        </p:txBody>
      </p:sp>
      <p:sp>
        <p:nvSpPr>
          <p:cNvPr id="248" name="Google Shape;248;p44"/>
          <p:cNvSpPr txBox="1"/>
          <p:nvPr>
            <p:ph idx="1" type="body"/>
          </p:nvPr>
        </p:nvSpPr>
        <p:spPr>
          <a:xfrm>
            <a:off x="311700" y="1152475"/>
            <a:ext cx="4260300" cy="21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@Entity</a:t>
            </a:r>
            <a:endParaRPr i="1"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@Table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(name = "orders")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// (關鍵) 絕對不要用 @Data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@Getter</a:t>
            </a:r>
            <a:endParaRPr i="1"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@Setter</a:t>
            </a:r>
            <a:endParaRPr i="1"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@NoArgsConstructor</a:t>
            </a:r>
            <a:endParaRPr i="1"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@ToString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(exclude = {"buyer", "seller", "items"}) // (關鍵) 排除所有關聯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@EqualsAndHashCode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(exclude = {"buyer", "seller", "items"}) // (關鍵) 排除所有關聯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public class OrderPO {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i="1"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@Id</a:t>
            </a:r>
            <a:endParaRPr i="1"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i="1"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@GeneratedValue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(strategy = </a:t>
            </a:r>
            <a:r>
              <a:rPr i="1"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GenerationType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i="1"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IDENTITY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i="1"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@Column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(name = "order_id")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private Long orderId;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249" name="Google Shape;249;p44" title="Screenshot from 2025-11-25 20-43-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337525"/>
            <a:ext cx="8839200" cy="171784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44"/>
          <p:cNvSpPr txBox="1"/>
          <p:nvPr>
            <p:ph idx="1" type="body"/>
          </p:nvPr>
        </p:nvSpPr>
        <p:spPr>
          <a:xfrm>
            <a:off x="4572000" y="1152475"/>
            <a:ext cx="4260300" cy="21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/**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* @ManyToOne: 多筆訂單「屬於」一個買家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*/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i="1"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@ManyToOne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(fetch = </a:t>
            </a:r>
            <a:r>
              <a:rPr i="1"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FetchType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i="1"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LAZY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i="1"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@JoinColumn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(name = "buyer_id", nullable = false)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private UserPO buyer;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/**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* @ManyToOne: 多筆訂單「屬於」一個賣家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*/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i="1"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@ManyToOne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(fetch = </a:t>
            </a:r>
            <a:r>
              <a:rPr i="1"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FetchType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i="1"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LAZY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i="1"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@JoinColumn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(name = "seller_id", nullable = false)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private UserPO seller;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/**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* @OneToMany: 一筆訂單「擁有多個」訂單項目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* (關鍵) mappedBy = "order"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* (關鍵) cascade = CascadeType.ALL (當儲存 OrderPO 時，自動儲存所有 items)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*/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i="1"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@OneToMany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mappedBy = "order",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cascade = </a:t>
            </a:r>
            <a:r>
              <a:rPr i="1"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CascadeType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i="1"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ALL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fetch = </a:t>
            </a:r>
            <a:r>
              <a:rPr i="1"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FetchType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i="1"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LAZY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, // (關鍵) 必須是 LAZY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orphanRemoval = true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)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OrderController</a:t>
            </a:r>
            <a:r>
              <a:rPr lang="en"/>
              <a:t>功能簡介</a:t>
            </a:r>
            <a:endParaRPr/>
          </a:p>
        </p:txBody>
      </p:sp>
      <p:sp>
        <p:nvSpPr>
          <p:cNvPr id="256" name="Google Shape;256;p45"/>
          <p:cNvSpPr txBox="1"/>
          <p:nvPr>
            <p:ph idx="1" type="body"/>
          </p:nvPr>
        </p:nvSpPr>
        <p:spPr>
          <a:xfrm>
            <a:off x="311700" y="572700"/>
            <a:ext cx="8520600" cy="11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@PostMapping</a:t>
            </a:r>
            <a:r>
              <a:rPr lang="en" sz="11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("/checkout")	// /api/orders/checkout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public ResponseEntity&lt;?&gt; checkoutFromMyCart() {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try {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// (Service 會回傳「此次」建立的所有新訂單)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List&lt;OrderResponseVO&gt; newOrders = orderService.checkoutFromMyCart();</a:t>
            </a:r>
            <a:endParaRPr sz="2000"/>
          </a:p>
        </p:txBody>
      </p:sp>
      <p:sp>
        <p:nvSpPr>
          <p:cNvPr id="257" name="Google Shape;257;p45"/>
          <p:cNvSpPr txBox="1"/>
          <p:nvPr/>
        </p:nvSpPr>
        <p:spPr>
          <a:xfrm>
            <a:off x="311700" y="1727100"/>
            <a:ext cx="6376500" cy="3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流程說明：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此 API 不需要 Request Body，它會自動從 Token 抓取買家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   /**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    * 從 Token 中解析出「使用者名稱 (Email)」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    * JwtUtil.java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    */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   public String extractUsername(String token) {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       return extractClaim(token, Claims::getSubject);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   }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儲存「訂單」, (因為 cascade = ALL, 這會「同時」儲存所有 OrderItemPO)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OrderPO savedOrder = orderDAO.save(newOrder);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為了不要有recursion造成stackoverflow(不斷循環查詢造成記憶體爆掉), 要設定成"LAZY"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OrderPO (JAP entity) : 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   </a:t>
            </a:r>
            <a:r>
              <a:rPr i="1" lang="en" sz="900">
                <a:solidFill>
                  <a:schemeClr val="dk1"/>
                </a:solidFill>
                <a:highlight>
                  <a:schemeClr val="lt1"/>
                </a:highlight>
              </a:rPr>
              <a:t>@OneToMany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(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       mappedBy = "order",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       cascade = CascadeType.</a:t>
            </a:r>
            <a:r>
              <a:rPr i="1" lang="en" sz="900">
                <a:solidFill>
                  <a:schemeClr val="dk1"/>
                </a:solidFill>
                <a:highlight>
                  <a:schemeClr val="lt1"/>
                </a:highlight>
              </a:rPr>
              <a:t>ALL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,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       fetch = FetchType.</a:t>
            </a:r>
            <a:r>
              <a:rPr i="1" lang="en" sz="900">
                <a:solidFill>
                  <a:schemeClr val="dk1"/>
                </a:solidFill>
                <a:highlight>
                  <a:schemeClr val="lt1"/>
                </a:highlight>
              </a:rPr>
              <a:t>LAZY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, // (關鍵) 必須是 LAZY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       orphanRemoval = true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   )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OrderController功能簡介</a:t>
            </a:r>
            <a:endParaRPr/>
          </a:p>
        </p:txBody>
      </p:sp>
      <p:sp>
        <p:nvSpPr>
          <p:cNvPr id="263" name="Google Shape;263;p46"/>
          <p:cNvSpPr txBox="1"/>
          <p:nvPr/>
        </p:nvSpPr>
        <p:spPr>
          <a:xfrm>
            <a:off x="311700" y="572700"/>
            <a:ext cx="852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查詢全部訂單（管理員用）：施工中...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64" name="Google Shape;264;p46"/>
          <p:cNvSpPr txBox="1"/>
          <p:nvPr/>
        </p:nvSpPr>
        <p:spPr>
          <a:xfrm>
            <a:off x="362050" y="1972425"/>
            <a:ext cx="852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查詢</a:t>
            </a:r>
            <a:r>
              <a:rPr lang="en" sz="1800">
                <a:solidFill>
                  <a:schemeClr val="dk2"/>
                </a:solidFill>
              </a:rPr>
              <a:t>單筆</a:t>
            </a:r>
            <a:r>
              <a:rPr lang="en" sz="1800">
                <a:solidFill>
                  <a:schemeClr val="dk2"/>
                </a:solidFill>
              </a:rPr>
              <a:t>訂單（</a:t>
            </a:r>
            <a:r>
              <a:rPr lang="en" sz="1800">
                <a:solidFill>
                  <a:schemeClr val="dk2"/>
                </a:solidFill>
              </a:rPr>
              <a:t>含明細</a:t>
            </a:r>
            <a:r>
              <a:rPr lang="en" sz="1800">
                <a:solidFill>
                  <a:schemeClr val="dk2"/>
                </a:solidFill>
              </a:rPr>
              <a:t>）：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