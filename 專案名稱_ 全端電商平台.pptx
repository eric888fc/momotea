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40"/>
  </p:notesMasterIdLst>
  <p:sldIdLst>
    <p:sldId id="256" r:id="rId2"/>
    <p:sldId id="257" r:id="rId3"/>
    <p:sldId id="258" r:id="rId4"/>
    <p:sldId id="259" r:id="rId5"/>
    <p:sldId id="260" r:id="rId6"/>
    <p:sldId id="291" r:id="rId7"/>
    <p:sldId id="292" r:id="rId8"/>
    <p:sldId id="293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178B2CF1-C75D-4F7E-A100-BD5A6AD9CF12}">
  <a:tblStyle styleId="{178B2CF1-C75D-4F7E-A100-BD5A6AD9CF12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70359D5-66E4-4F31-8F93-66B10F3B2B4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4" d="100"/>
          <a:sy n="144" d="100"/>
        </p:scale>
        <p:origin x="654" y="12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a91e49a6e6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a91e49a6e6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a91e49a6e6_1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a91e49a6e6_1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a91e49a6e6_1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a91e49a6e6_1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a92400b42d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a92400b42d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a92400b42d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a92400b42d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a92400b42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a92400b42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a92400b42d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" name="Google Shape;94;g3a92400b42d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a92400b42d_0_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a92400b42d_0_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a92400b42d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a92400b42d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92400b42d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a92400b42d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a92400b42d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a92400b42d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a92400b42d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3a92400b42d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a92400b42d_0_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a92400b42d_0_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a92400b42d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a92400b42d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a92400b42d_0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a92400b42d_0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a92400b42d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a92400b42d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a92400b42d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a92400b42d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93c521bf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a93c521bf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a93c521bf0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a93c521bf0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a93c521bf0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a93c521bf0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a93c521bf0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a93c521bf0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a93c521bf0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a93c521bf0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a93c521bf0_0_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a93c521bf0_0_6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3a93c521bf0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3a93c521bf0_0_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a93c521bf0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a93c521bf0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a93c521bf0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1" name="Google Shape;211;g3a93c521bf0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a93c521bf0_0_1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a93c521bf0_0_1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a93c521bf0_0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a93c521bf0_0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a93c521bf0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a93c521bf0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a93c521bf0_0_1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a93c521bf0_0_1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a93c521bf0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a93c521bf0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a93c521bf0_0_1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a93c521bf0_0_1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3a93c521bf0_0_1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0" name="Google Shape;260;g3a93c521bf0_0_1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93c521bf0_0_1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3a93c521bf0_0_1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專案名稱: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全端電商平台</a:t>
            </a:r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成員: Eric, Vincent, Stone, Barry, Alex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大綱</a:t>
            </a:r>
            <a:endParaRPr b="1" dirty="0"/>
          </a:p>
        </p:txBody>
      </p:sp>
      <p:sp>
        <p:nvSpPr>
          <p:cNvPr id="61" name="Google Shape;61;p1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1.專案介紹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2.使用案例（Use Case）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3.系統功能說明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4.資料庫模型圖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5.前端程式架構說明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6.後端程式架構說明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dk2"/>
                </a:solidFill>
              </a:rPr>
              <a:t>專案介紹</a:t>
            </a:r>
            <a:endParaRPr b="1" dirty="0"/>
          </a:p>
        </p:txBody>
      </p:sp>
      <p:sp>
        <p:nvSpPr>
          <p:cNvPr id="67" name="Google Shape;67;p1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dk1"/>
                </a:solidFill>
                <a:highlight>
                  <a:schemeClr val="lt1"/>
                </a:highlight>
              </a:rPr>
              <a:t>這是一個功能完整的全端電商平台專案，模擬一個多賣家 (Multi-Seller) 的市集（如蝦皮或 Amazon）。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chemeClr val="dk1"/>
                </a:solidFill>
                <a:highlight>
                  <a:schemeClr val="lt1"/>
                </a:highlight>
              </a:rPr>
              <a:t>* </a:t>
            </a:r>
            <a:r>
              <a:rPr lang="en" sz="1600" b="1" dirty="0">
                <a:solidFill>
                  <a:schemeClr val="dk1"/>
                </a:solidFill>
                <a:highlight>
                  <a:schemeClr val="lt1"/>
                </a:highlight>
              </a:rPr>
              <a:t>**後端 (Backend):**</a:t>
            </a:r>
            <a:r>
              <a:rPr lang="en" sz="1600" dirty="0">
                <a:solidFill>
                  <a:schemeClr val="dk1"/>
                </a:solidFill>
                <a:highlight>
                  <a:schemeClr val="lt1"/>
                </a:highlight>
              </a:rPr>
              <a:t> 使用 Java Spring Boot 構建，包含 JWT 安全認證、RESTful API、JPA 資料庫管理和多角色權限控制。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35714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dirty="0">
                <a:solidFill>
                  <a:schemeClr val="dk1"/>
                </a:solidFill>
                <a:highlight>
                  <a:schemeClr val="lt1"/>
                </a:highlight>
              </a:rPr>
              <a:t>* </a:t>
            </a:r>
            <a:r>
              <a:rPr lang="en" sz="1600" b="1" dirty="0">
                <a:solidFill>
                  <a:schemeClr val="dk1"/>
                </a:solidFill>
                <a:highlight>
                  <a:schemeClr val="lt1"/>
                </a:highlight>
              </a:rPr>
              <a:t>**前端 (Frontend):**</a:t>
            </a:r>
            <a:r>
              <a:rPr lang="en" sz="1600" dirty="0">
                <a:solidFill>
                  <a:schemeClr val="dk1"/>
                </a:solidFill>
                <a:highlight>
                  <a:schemeClr val="lt1"/>
                </a:highlight>
              </a:rPr>
              <a:t> 使用 Vanilla JavaScript (ES6+), HTML5, 和 CSS3 構建，不依賴任何框架 (like React/Vue)，專注於透過 `fetch` API 實作非同步 (Async/Await) 頁面渲染。</a:t>
            </a:r>
            <a:endParaRPr sz="1600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>
            <a:spLocks noGrp="1"/>
          </p:cNvSpPr>
          <p:nvPr>
            <p:ph type="title"/>
          </p:nvPr>
        </p:nvSpPr>
        <p:spPr>
          <a:xfrm>
            <a:off x="2537790" y="0"/>
            <a:ext cx="369045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使用案例</a:t>
            </a:r>
            <a:r>
              <a:rPr lang="en" dirty="0"/>
              <a:t>（Use Case）</a:t>
            </a:r>
            <a:endParaRPr dirty="0"/>
          </a:p>
        </p:txBody>
      </p:sp>
      <p:graphicFrame>
        <p:nvGraphicFramePr>
          <p:cNvPr id="73" name="Google Shape;73;p16"/>
          <p:cNvGraphicFramePr/>
          <p:nvPr>
            <p:extLst>
              <p:ext uri="{D42A27DB-BD31-4B8C-83A1-F6EECF244321}">
                <p14:modId xmlns:p14="http://schemas.microsoft.com/office/powerpoint/2010/main" val="2248640310"/>
              </p:ext>
            </p:extLst>
          </p:nvPr>
        </p:nvGraphicFramePr>
        <p:xfrm>
          <a:off x="285196" y="572700"/>
          <a:ext cx="8617900" cy="4550495"/>
        </p:xfrm>
        <a:graphic>
          <a:graphicData uri="http://schemas.openxmlformats.org/drawingml/2006/table">
            <a:tbl>
              <a:tblPr>
                <a:noFill/>
                <a:tableStyleId>{178B2CF1-C75D-4F7E-A100-BD5A6AD9CF12}</a:tableStyleId>
              </a:tblPr>
              <a:tblGrid>
                <a:gridCol w="11369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80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89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項目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使用案例 (Use Case)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包含功能/說明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相關角色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用戶認證 (Authentication)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註冊、登入、發送 Email 驗證碼、重設密碼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Public, Buyer, Seller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II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商品瀏覽 (Product Browsing)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瀏覽商品列表、查看商品詳情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Public, Buyer, Seller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III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購物車管理 (Cart Management)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加入購物車、修改/刪除購物車項目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Buyer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IV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訂單結帳 (Order Checkout)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執行結帳流程，自動進行多賣家拆單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Buyer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V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買家訂單查詢 (Buyer Order Inquiry)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查詢買家自己的訂單列表與詳情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Buyer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VI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評價管理 (Rating Management)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買家： 建立/更新商品評價 。賣家： 查詢商品評價 。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Buyer, Seller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VII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買家錢包儲值 (Buyer Wallet Top-up)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增加電子錢包餘額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Buyer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VIII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賣家商品管理 (Seller Product Mgt.)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新增商品 (上架)、修改/刪除商品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Seller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IX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賣家訂單查詢 (Seller Order Inquiry)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查詢賣家收到的訂單列表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Seller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X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賣家提款管理 (Seller Withdrawal)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/>
                        <a:t>設定提款帳戶、申請錢包提款</a:t>
                      </a:r>
                      <a:endParaRPr sz="120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200" dirty="0"/>
                        <a:t>Seller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73584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dirty="0" smtClean="0"/>
                        <a:t>XI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altLang="en-US" sz="1200" dirty="0" smtClean="0"/>
                        <a:t>後臺管理員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zh-TW" altLang="en-US" sz="1200" dirty="0" smtClean="0"/>
                        <a:t>報表數據與會員管理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altLang="zh-TW" sz="1200" dirty="0" smtClean="0"/>
                        <a:t>Admin</a:t>
                      </a:r>
                      <a:endParaRPr sz="1200" dirty="0"/>
                    </a:p>
                  </a:txBody>
                  <a:tcPr marL="28575" marR="28575" marT="19050" marB="19050" anchor="b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7518898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系統功能說明</a:t>
            </a:r>
            <a:endParaRPr b="1" dirty="0"/>
          </a:p>
        </p:txBody>
      </p:sp>
      <p:sp>
        <p:nvSpPr>
          <p:cNvPr id="79" name="Google Shape;79;p17"/>
          <p:cNvSpPr txBox="1">
            <a:spLocks noGrp="1"/>
          </p:cNvSpPr>
          <p:nvPr>
            <p:ph type="body" idx="1"/>
          </p:nvPr>
        </p:nvSpPr>
        <p:spPr>
          <a:xfrm>
            <a:off x="311700" y="1152474"/>
            <a:ext cx="8520600" cy="39910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25000" lnSpcReduction="20000"/>
          </a:bodyPr>
          <a:lstStyle/>
          <a:p>
            <a:pPr marL="342900" lvl="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" sz="6400" b="1" dirty="0">
                <a:solidFill>
                  <a:schemeClr val="dk1"/>
                </a:solidFill>
              </a:rPr>
              <a:t>頁面區域：買家/賣家登入、產品列表、訂單、購物車</a:t>
            </a:r>
            <a:endParaRPr sz="6400" b="1" dirty="0">
              <a:solidFill>
                <a:schemeClr val="dk1"/>
              </a:solidFill>
            </a:endParaRPr>
          </a:p>
          <a:p>
            <a:pPr marL="342900" lvl="0" algn="l" rtl="0">
              <a:spcBef>
                <a:spcPts val="1200"/>
              </a:spcBef>
              <a:spcAft>
                <a:spcPts val="0"/>
              </a:spcAft>
              <a:buFont typeface="+mj-lt"/>
              <a:buAutoNum type="arabicPeriod"/>
            </a:pPr>
            <a:r>
              <a:rPr lang="en" sz="6400" b="1" dirty="0">
                <a:solidFill>
                  <a:schemeClr val="dk1"/>
                </a:solidFill>
              </a:rPr>
              <a:t>主要功能 : </a:t>
            </a:r>
            <a:endParaRPr sz="6400" b="1" dirty="0">
              <a:solidFill>
                <a:schemeClr val="dk1"/>
              </a:solidFill>
            </a:endParaRPr>
          </a:p>
          <a:p>
            <a:pPr marL="857250" lvl="0" indent="-857250" algn="l" rtl="0">
              <a:spcBef>
                <a:spcPts val="12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買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/賣家帳戶註冊&amp;登入, </a:t>
            </a:r>
            <a:endParaRPr sz="6400" b="1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857250" lvl="0" indent="-857250" algn="l" rtl="0">
              <a:spcBef>
                <a:spcPts val="12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產品顯示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, </a:t>
            </a:r>
            <a:endParaRPr sz="6400" b="1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857250" lvl="0" indent="-857250" algn="l" rtl="0">
              <a:spcBef>
                <a:spcPts val="12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商品評價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, </a:t>
            </a:r>
            <a:endParaRPr sz="6400" b="1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857250" lvl="0" indent="-857250" algn="l" rtl="0">
              <a:spcBef>
                <a:spcPts val="12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購物車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, </a:t>
            </a:r>
            <a:endParaRPr sz="6400" b="1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857250" lvl="0" indent="-857250" algn="l" rtl="0">
              <a:spcBef>
                <a:spcPts val="12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訂單管理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,</a:t>
            </a:r>
            <a:endParaRPr sz="6400" b="1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857250" lvl="0" indent="-857250" algn="l" rtl="0">
              <a:spcBef>
                <a:spcPts val="12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買家電子錢包儲值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, </a:t>
            </a:r>
            <a:endParaRPr sz="6400" b="1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857250" indent="-857250">
              <a:spcBef>
                <a:spcPts val="1200"/>
              </a:spcBef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賣家收款</a:t>
            </a:r>
            <a:r>
              <a:rPr lang="en" altLang="zh-TW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,</a:t>
            </a:r>
            <a:endParaRPr sz="6400" b="1" dirty="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857250" lvl="0" indent="-857250" algn="l" rtl="0">
              <a:spcBef>
                <a:spcPts val="1200"/>
              </a:spcBef>
              <a:spcAft>
                <a:spcPts val="0"/>
              </a:spcAft>
              <a:buFont typeface="Wingdings" panose="05000000000000000000" pitchFamily="2" charset="2"/>
              <a:buChar char="u"/>
            </a:pP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	後台管理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(</a:t>
            </a: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報表生成</a:t>
            </a:r>
            <a:r>
              <a:rPr lang="zh-TW" altLang="en-US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與會員管理</a:t>
            </a:r>
            <a:r>
              <a:rPr lang="en" sz="6400" b="1" dirty="0" smtClean="0">
                <a:solidFill>
                  <a:schemeClr val="dk1"/>
                </a:solidFill>
                <a:highlight>
                  <a:schemeClr val="lt1"/>
                </a:highlight>
              </a:rPr>
              <a:t>)</a:t>
            </a:r>
            <a:r>
              <a:rPr lang="en" sz="6400" b="1" dirty="0">
                <a:solidFill>
                  <a:schemeClr val="dk1"/>
                </a:solidFill>
                <a:highlight>
                  <a:schemeClr val="lt1"/>
                </a:highlight>
              </a:rPr>
              <a:t>	</a:t>
            </a:r>
            <a:r>
              <a:rPr lang="en" sz="1724" b="1" dirty="0">
                <a:solidFill>
                  <a:schemeClr val="dk1"/>
                </a:solidFill>
                <a:highlight>
                  <a:schemeClr val="lt1"/>
                </a:highlight>
              </a:rPr>
              <a:t>	</a:t>
            </a:r>
            <a:r>
              <a:rPr lang="en" sz="1763" dirty="0">
                <a:solidFill>
                  <a:schemeClr val="dk1"/>
                </a:solidFill>
                <a:highlight>
                  <a:schemeClr val="lt1"/>
                </a:highlight>
              </a:rPr>
              <a:t>	</a:t>
            </a:r>
            <a:endParaRPr sz="1563" dirty="0">
              <a:solidFill>
                <a:srgbClr val="F0F6FC"/>
              </a:solidFill>
              <a:highlight>
                <a:srgbClr val="0D1117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/>
              <a:t>		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11700" y="100468"/>
            <a:ext cx="887622" cy="572700"/>
          </a:xfrm>
        </p:spPr>
        <p:txBody>
          <a:bodyPr>
            <a:normAutofit fontScale="90000"/>
          </a:bodyPr>
          <a:lstStyle/>
          <a:p>
            <a:r>
              <a:rPr lang="zh-TW" altLang="en-US" b="1" dirty="0"/>
              <a:t>首頁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11700" y="1152474"/>
            <a:ext cx="8520600" cy="3991025"/>
          </a:xfrm>
        </p:spPr>
        <p:txBody>
          <a:bodyPr/>
          <a:lstStyle/>
          <a:p>
            <a:pPr lvl="0"/>
            <a:r>
              <a:rPr lang="zh-TW" altLang="en-US" dirty="0">
                <a:solidFill>
                  <a:schemeClr val="tx1"/>
                </a:solidFill>
              </a:rPr>
              <a:t>首頁預設會顯示角色分流</a:t>
            </a:r>
            <a:r>
              <a:rPr lang="zh-TW" altLang="en-US" dirty="0" smtClean="0">
                <a:solidFill>
                  <a:schemeClr val="tx1"/>
                </a:solidFill>
              </a:rPr>
              <a:t>畫面</a:t>
            </a:r>
            <a:endParaRPr lang="en-US" altLang="zh-TW" dirty="0" smtClean="0">
              <a:solidFill>
                <a:schemeClr val="tx1"/>
              </a:solidFill>
            </a:endParaRPr>
          </a:p>
          <a:p>
            <a:pPr lvl="0"/>
            <a:endParaRPr lang="en-US" altLang="zh-TW" dirty="0">
              <a:solidFill>
                <a:schemeClr val="tx1"/>
              </a:solidFill>
            </a:endParaRPr>
          </a:p>
          <a:p>
            <a:pPr lvl="0"/>
            <a:endParaRPr lang="en-US" altLang="zh-TW" dirty="0" smtClean="0">
              <a:solidFill>
                <a:schemeClr val="tx1"/>
              </a:solidFill>
            </a:endParaRPr>
          </a:p>
          <a:p>
            <a:pPr lvl="0"/>
            <a:endParaRPr lang="en-US" altLang="zh-TW" dirty="0">
              <a:solidFill>
                <a:schemeClr val="tx1"/>
              </a:solidFill>
            </a:endParaRPr>
          </a:p>
          <a:p>
            <a:pPr lvl="0"/>
            <a:endParaRPr lang="en-US" altLang="zh-TW" dirty="0" smtClean="0">
              <a:solidFill>
                <a:schemeClr val="tx1"/>
              </a:solidFill>
            </a:endParaRPr>
          </a:p>
          <a:p>
            <a:pPr lvl="0"/>
            <a:r>
              <a:rPr lang="zh-TW" altLang="en-US" dirty="0">
                <a:solidFill>
                  <a:schemeClr val="tx1"/>
                </a:solidFill>
              </a:rPr>
              <a:t>點擊</a:t>
            </a:r>
            <a:r>
              <a:rPr lang="zh-TW" altLang="en-US" dirty="0" smtClean="0">
                <a:solidFill>
                  <a:schemeClr val="tx1"/>
                </a:solidFill>
              </a:rPr>
              <a:t>角色後進入登入</a:t>
            </a:r>
            <a:r>
              <a:rPr lang="en-US" altLang="zh-TW" dirty="0" smtClean="0">
                <a:solidFill>
                  <a:schemeClr val="tx1"/>
                </a:solidFill>
              </a:rPr>
              <a:t>/</a:t>
            </a:r>
            <a:r>
              <a:rPr lang="zh-TW" altLang="en-US" dirty="0" smtClean="0">
                <a:solidFill>
                  <a:schemeClr val="tx1"/>
                </a:solidFill>
              </a:rPr>
              <a:t>註冊</a:t>
            </a:r>
            <a:endParaRPr lang="en-US" altLang="zh-TW" dirty="0" smtClean="0">
              <a:solidFill>
                <a:schemeClr val="tx1"/>
              </a:solidFill>
            </a:endParaRPr>
          </a:p>
          <a:p>
            <a:pPr marL="114300" lvl="0" indent="0">
              <a:buNone/>
            </a:pPr>
            <a:r>
              <a:rPr lang="zh-TW" altLang="en-US" dirty="0" smtClean="0">
                <a:solidFill>
                  <a:schemeClr val="tx1"/>
                </a:solidFill>
              </a:rPr>
              <a:t>      </a:t>
            </a:r>
            <a:r>
              <a:rPr lang="en-US" altLang="zh-TW" dirty="0" smtClean="0">
                <a:solidFill>
                  <a:schemeClr val="tx1"/>
                </a:solidFill>
              </a:rPr>
              <a:t>(</a:t>
            </a:r>
            <a:r>
              <a:rPr lang="zh-TW" altLang="en-US" dirty="0">
                <a:solidFill>
                  <a:schemeClr val="tx1"/>
                </a:solidFill>
              </a:rPr>
              <a:t>選擇</a:t>
            </a:r>
            <a:r>
              <a:rPr lang="zh-TW" altLang="en-US" dirty="0" smtClean="0">
                <a:solidFill>
                  <a:schemeClr val="tx1"/>
                </a:solidFill>
              </a:rPr>
              <a:t>管理員則只有登入</a:t>
            </a:r>
            <a:r>
              <a:rPr lang="en-US" altLang="zh-TW" dirty="0" smtClean="0">
                <a:solidFill>
                  <a:schemeClr val="tx1"/>
                </a:solidFill>
              </a:rPr>
              <a:t>)</a:t>
            </a:r>
            <a:endParaRPr lang="zh-TW" altLang="en-US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1480" y="386818"/>
            <a:ext cx="2853175" cy="2085013"/>
          </a:xfrm>
          <a:prstGeom prst="rect">
            <a:avLst/>
          </a:prstGeom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3709" y="2723324"/>
            <a:ext cx="2506638" cy="2246222"/>
          </a:xfrm>
          <a:prstGeom prst="rect">
            <a:avLst/>
          </a:prstGeom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3264" y="2723323"/>
            <a:ext cx="2621953" cy="22462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29245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0" y="0"/>
            <a:ext cx="1662874" cy="572700"/>
          </a:xfrm>
        </p:spPr>
        <p:txBody>
          <a:bodyPr>
            <a:normAutofit fontScale="90000"/>
          </a:bodyPr>
          <a:lstStyle/>
          <a:p>
            <a:r>
              <a:rPr lang="zh-TW" altLang="en-US" b="1" dirty="0" smtClean="0"/>
              <a:t>註冊系統</a:t>
            </a:r>
            <a:endParaRPr lang="zh-TW" altLang="en-US" b="1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311700" y="1152475"/>
            <a:ext cx="4180787" cy="3416400"/>
          </a:xfrm>
        </p:spPr>
        <p:txBody>
          <a:bodyPr>
            <a:normAutofit/>
          </a:bodyPr>
          <a:lstStyle/>
          <a:p>
            <a:r>
              <a:rPr lang="zh-TW" altLang="en-US" dirty="0">
                <a:solidFill>
                  <a:schemeClr val="tx1"/>
                </a:solidFill>
              </a:rPr>
              <a:t>輸入</a:t>
            </a:r>
            <a:r>
              <a:rPr lang="zh-TW" altLang="en-US" dirty="0" smtClean="0">
                <a:solidFill>
                  <a:schemeClr val="tx1"/>
                </a:solidFill>
              </a:rPr>
              <a:t>電子郵件後按下</a:t>
            </a:r>
            <a:r>
              <a:rPr lang="en-US" altLang="zh-TW" dirty="0" smtClean="0">
                <a:solidFill>
                  <a:schemeClr val="tx1"/>
                </a:solidFill>
              </a:rPr>
              <a:t>[</a:t>
            </a:r>
            <a:r>
              <a:rPr lang="zh-TW" altLang="en-US" dirty="0" smtClean="0">
                <a:solidFill>
                  <a:schemeClr val="tx1"/>
                </a:solidFill>
              </a:rPr>
              <a:t>獲取驗證碼</a:t>
            </a:r>
            <a:r>
              <a:rPr lang="en-US" altLang="zh-TW" dirty="0" smtClean="0">
                <a:solidFill>
                  <a:schemeClr val="tx1"/>
                </a:solidFill>
              </a:rPr>
              <a:t>]</a:t>
            </a:r>
            <a:endParaRPr lang="en-US" altLang="zh-TW" dirty="0">
              <a:solidFill>
                <a:schemeClr val="tx1"/>
              </a:solidFill>
            </a:endParaRPr>
          </a:p>
          <a:p>
            <a:r>
              <a:rPr lang="zh-TW" altLang="en-US" dirty="0" smtClean="0">
                <a:solidFill>
                  <a:schemeClr val="tx1"/>
                </a:solidFill>
              </a:rPr>
              <a:t>驗證碼會傳送到郵箱裡</a:t>
            </a:r>
            <a:endParaRPr lang="en-US" altLang="zh-TW" dirty="0" smtClean="0">
              <a:solidFill>
                <a:schemeClr val="tx1"/>
              </a:solidFill>
            </a:endParaRPr>
          </a:p>
          <a:p>
            <a:pPr marL="114300" indent="0">
              <a:buNone/>
            </a:pPr>
            <a:r>
              <a:rPr lang="en-US" altLang="zh-TW" dirty="0" smtClean="0">
                <a:solidFill>
                  <a:schemeClr val="tx1"/>
                </a:solidFill>
              </a:rPr>
              <a:t>     (</a:t>
            </a:r>
            <a:r>
              <a:rPr lang="zh-TW" altLang="en-US" dirty="0" smtClean="0">
                <a:solidFill>
                  <a:schemeClr val="tx1"/>
                </a:solidFill>
              </a:rPr>
              <a:t>後端</a:t>
            </a:r>
            <a:r>
              <a:rPr lang="en-US" altLang="zh-TW" dirty="0" smtClean="0">
                <a:solidFill>
                  <a:schemeClr val="tx1"/>
                </a:solidFill>
              </a:rPr>
              <a:t>Console</a:t>
            </a:r>
            <a:r>
              <a:rPr lang="zh-TW" altLang="en-US" dirty="0" smtClean="0">
                <a:solidFill>
                  <a:schemeClr val="tx1"/>
                </a:solidFill>
              </a:rPr>
              <a:t>也能看到</a:t>
            </a:r>
            <a:r>
              <a:rPr lang="en-US" altLang="zh-TW" dirty="0" smtClean="0">
                <a:solidFill>
                  <a:schemeClr val="tx1"/>
                </a:solidFill>
              </a:rPr>
              <a:t>)</a:t>
            </a:r>
          </a:p>
          <a:p>
            <a:endParaRPr lang="zh-TW" altLang="en-US" dirty="0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102" y="2397549"/>
            <a:ext cx="3074504" cy="1671539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圖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227" y="1240577"/>
            <a:ext cx="2353057" cy="3778393"/>
          </a:xfrm>
          <a:prstGeom prst="rect">
            <a:avLst/>
          </a:prstGeom>
        </p:spPr>
      </p:pic>
      <p:sp>
        <p:nvSpPr>
          <p:cNvPr id="10" name="文字方塊 9"/>
          <p:cNvSpPr txBox="1"/>
          <p:nvPr/>
        </p:nvSpPr>
        <p:spPr>
          <a:xfrm>
            <a:off x="4780671" y="502795"/>
            <a:ext cx="2954655" cy="9448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342900">
              <a:lnSpc>
                <a:spcPct val="115000"/>
              </a:lnSpc>
              <a:buClr>
                <a:schemeClr val="dk2"/>
              </a:buClr>
              <a:buSzPts val="1800"/>
              <a:buFont typeface="Arial"/>
              <a:buChar char="●"/>
            </a:pPr>
            <a:r>
              <a:rPr lang="zh-TW" altLang="en-US" sz="1800" dirty="0">
                <a:solidFill>
                  <a:schemeClr val="tx1"/>
                </a:solidFill>
              </a:rPr>
              <a:t>輸入驗證碼跟基本資料</a:t>
            </a:r>
            <a:endParaRPr lang="en-US" altLang="zh-TW" sz="1800" dirty="0">
              <a:solidFill>
                <a:schemeClr val="tx1"/>
              </a:solidFill>
            </a:endParaRPr>
          </a:p>
          <a:p>
            <a:pPr marL="457200" indent="-342900">
              <a:lnSpc>
                <a:spcPct val="115000"/>
              </a:lnSpc>
              <a:buClr>
                <a:schemeClr val="dk2"/>
              </a:buClr>
              <a:buSzPts val="1800"/>
              <a:buFont typeface="Arial"/>
              <a:buChar char="●"/>
            </a:pPr>
            <a:r>
              <a:rPr lang="zh-TW" altLang="en-US" sz="1800" dirty="0">
                <a:solidFill>
                  <a:schemeClr val="tx1"/>
                </a:solidFill>
              </a:rPr>
              <a:t>註冊完成後會跳回首頁</a:t>
            </a:r>
            <a:endParaRPr lang="en-US" altLang="zh-TW" sz="1800" dirty="0">
              <a:solidFill>
                <a:schemeClr val="tx1"/>
              </a:solidFill>
            </a:endParaRP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781099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32796" y="54086"/>
            <a:ext cx="1503848" cy="572700"/>
          </a:xfrm>
        </p:spPr>
        <p:txBody>
          <a:bodyPr>
            <a:normAutofit fontScale="90000"/>
          </a:bodyPr>
          <a:lstStyle/>
          <a:p>
            <a:r>
              <a:rPr lang="zh-TW" altLang="en-US" b="1" dirty="0" smtClean="0"/>
              <a:t>重設密碼</a:t>
            </a:r>
            <a:endParaRPr lang="zh-TW" altLang="en-US" b="1" dirty="0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02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8"/>
          <p:cNvSpPr txBox="1">
            <a:spLocks noGrp="1"/>
          </p:cNvSpPr>
          <p:nvPr>
            <p:ph type="title"/>
          </p:nvPr>
        </p:nvSpPr>
        <p:spPr>
          <a:xfrm>
            <a:off x="311700" y="81558"/>
            <a:ext cx="1735761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登入系統</a:t>
            </a:r>
            <a:endParaRPr b="1" dirty="0"/>
          </a:p>
        </p:txBody>
      </p:sp>
      <p:sp>
        <p:nvSpPr>
          <p:cNvPr id="85" name="Google Shape;85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首頁預設會顯示</a:t>
            </a:r>
            <a:r>
              <a:rPr lang="zh-TW" altLang="en-US" dirty="0" smtClean="0">
                <a:solidFill>
                  <a:schemeClr val="tx1"/>
                </a:solidFill>
              </a:rPr>
              <a:t>角色分流</a:t>
            </a:r>
            <a:r>
              <a:rPr lang="en" dirty="0" smtClean="0">
                <a:solidFill>
                  <a:schemeClr val="tx1"/>
                </a:solidFill>
              </a:rPr>
              <a:t>畫面</a:t>
            </a:r>
            <a:endParaRPr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dirty="0">
                <a:solidFill>
                  <a:schemeClr val="tx1"/>
                </a:solidFill>
              </a:rPr>
              <a:t>輸入您的帳號密碼，例如：</a:t>
            </a:r>
            <a:endParaRPr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>
                <a:solidFill>
                  <a:schemeClr val="tx1"/>
                </a:solidFill>
              </a:rPr>
              <a:t>帳號</a:t>
            </a:r>
            <a:r>
              <a:rPr lang="en" dirty="0" smtClean="0">
                <a:solidFill>
                  <a:schemeClr val="tx1"/>
                </a:solidFill>
              </a:rPr>
              <a:t>：</a:t>
            </a:r>
            <a:r>
              <a:rPr lang="en-US" dirty="0" smtClean="0">
                <a:solidFill>
                  <a:schemeClr val="tx1"/>
                </a:solidFill>
              </a:rPr>
              <a:t>b1@gmail.com</a:t>
            </a:r>
            <a:endParaRPr dirty="0" smtClean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dirty="0" smtClean="0">
                <a:solidFill>
                  <a:schemeClr val="tx1"/>
                </a:solidFill>
              </a:rPr>
              <a:t>密碼：</a:t>
            </a:r>
            <a:r>
              <a:rPr lang="en-US" dirty="0" smtClean="0">
                <a:solidFill>
                  <a:schemeClr val="tx1"/>
                </a:solidFill>
              </a:rPr>
              <a:t>a1234567</a:t>
            </a:r>
            <a:endParaRPr dirty="0" smtClean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dirty="0" smtClean="0">
                <a:solidFill>
                  <a:schemeClr val="tx1"/>
                </a:solidFill>
              </a:rPr>
              <a:t>按下</a:t>
            </a:r>
            <a:r>
              <a:rPr lang="en" dirty="0">
                <a:solidFill>
                  <a:schemeClr val="tx1"/>
                </a:solidFill>
              </a:rPr>
              <a:t>「登入」</a:t>
            </a:r>
            <a:r>
              <a:rPr lang="en" dirty="0" smtClean="0">
                <a:solidFill>
                  <a:schemeClr val="tx1"/>
                </a:solidFill>
              </a:rPr>
              <a:t>按鈕後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2" name="圖片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34677" y="445025"/>
            <a:ext cx="2849217" cy="2084537"/>
          </a:xfrm>
          <a:prstGeom prst="rect">
            <a:avLst/>
          </a:prstGeom>
        </p:spPr>
      </p:pic>
      <p:pic>
        <p:nvPicPr>
          <p:cNvPr id="3" name="圖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0800" y="2948608"/>
            <a:ext cx="2465318" cy="21184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瀏覽產品 - </a:t>
            </a:r>
            <a:r>
              <a:rPr lang="en" sz="2800"/>
              <a:t>商城首頁</a:t>
            </a:r>
            <a:endParaRPr sz="3800"/>
          </a:p>
        </p:txBody>
      </p:sp>
      <p:sp>
        <p:nvSpPr>
          <p:cNvPr id="91" name="Google Shape;91;p19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登入成功後 系統直接進入”商城首頁” 會列出目前可購買的商品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每個商品旁邊有「加入購物車」按鈕，可以將想要的商品放入購物車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管理購物車</a:t>
            </a:r>
            <a:endParaRPr/>
          </a:p>
        </p:txBody>
      </p:sp>
      <p:sp>
        <p:nvSpPr>
          <p:cNvPr id="97" name="Google Shape;97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點選「購物車」進入購物車畫面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可以看到已經加入的商品清單，包括商品名稱、價格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可以刪除購物車中的商品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底部會顯示總金額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送出訂單</a:t>
            </a:r>
            <a:endParaRPr/>
          </a:p>
        </p:txBody>
      </p:sp>
      <p:sp>
        <p:nvSpPr>
          <p:cNvPr id="103" name="Google Shape;103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點選結帳按鈕後 會從錢包餘額中扣款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查詢歷史訂單</a:t>
            </a:r>
            <a:endParaRPr/>
          </a:p>
        </p:txBody>
      </p:sp>
      <p:sp>
        <p:nvSpPr>
          <p:cNvPr id="109" name="Google Shape;109;p2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點選「我的訂單」進入訂單管理畫面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系統會列出目前帳號所有歷史訂單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點擊訂單旁的「查看詳情」按鈕，可以展開該筆訂單內的所有商品內容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132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資料庫模型圖</a:t>
            </a:r>
            <a:endParaRPr/>
          </a:p>
        </p:txBody>
      </p:sp>
      <p:pic>
        <p:nvPicPr>
          <p:cNvPr id="115" name="Google Shape;115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70650" y="0"/>
            <a:ext cx="5084633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資料庫模型圖說明 </a:t>
            </a:r>
            <a:r>
              <a:rPr lang="en" sz="2750"/>
              <a:t>- </a:t>
            </a:r>
            <a:r>
              <a:rPr lang="en" sz="2750">
                <a:highlight>
                  <a:schemeClr val="lt1"/>
                </a:highlight>
              </a:rPr>
              <a:t>使用者 &amp; 認證 (User &amp; Auth)</a:t>
            </a:r>
            <a:endParaRPr sz="2750"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1" name="Google Shape;121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990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users: 核心使用者表 role 欄位 ('BUYER' / 'SELLER') 用於區分角色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password_reset_tokens: 存放「忘記密碼」時產生的一次性 Token 關聯 user_id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28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500">
                <a:highlight>
                  <a:schemeClr val="lt1"/>
                </a:highlight>
              </a:rPr>
              <a:t>商品 &amp; 分類 (Product &amp; Catalog)</a:t>
            </a:r>
            <a:endParaRPr sz="2500">
              <a:highlight>
                <a:schemeClr val="lt1"/>
              </a:highlight>
            </a:endParaRPr>
          </a:p>
        </p:txBody>
      </p:sp>
      <p:sp>
        <p:nvSpPr>
          <p:cNvPr id="127" name="Google Shape;127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categories: 商品分類表 parent_category_id 欄位（關聯自己）用於實現樹狀分類結構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products: 商品主表 關聯 seller_id (賣家) 和 category_id (分類)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product_ratings: 商品評價表  它不直接關聯 products，而是關聯 order_item_id 以確保只有已購買的買家才能評價。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ct val="40000"/>
              <a:buFont typeface="Arial"/>
              <a:buNone/>
            </a:pPr>
            <a:r>
              <a:rPr lang="en" sz="2750">
                <a:highlight>
                  <a:schemeClr val="lt1"/>
                </a:highlight>
              </a:rPr>
              <a:t>購物車 &amp; 訂單 (Cart &amp; Order)</a:t>
            </a:r>
            <a:endParaRPr sz="2750"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orders: 訂單主表 包含 buyer_id 和 seller_id 用於實現「</a:t>
            </a:r>
            <a:r>
              <a:rPr lang="en" sz="2000" b="1">
                <a:solidFill>
                  <a:schemeClr val="dk1"/>
                </a:solidFill>
                <a:highlight>
                  <a:schemeClr val="lt1"/>
                </a:highlight>
              </a:rPr>
              <a:t>多賣家拆單</a:t>
            </a: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」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order_items: 訂單項目表 這是訂單成立時的「商品快照」 儲存了當時的 price_per_unit (單價快照) 確保歷史價格不會變動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carts: 購物車主表 每個買家 (user_id) 擁有一個購物車 (一對一)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cart_items: 購物車項目表 存放當前在購物車中的商品 (product_id) 和數量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sz="1200">
              <a:solidFill>
                <a:srgbClr val="F0F6FC"/>
              </a:solidFill>
              <a:highlight>
                <a:srgbClr val="0D1117"/>
              </a:highlight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lnSpc>
                <a:spcPct val="125000"/>
              </a:lnSpc>
              <a:spcBef>
                <a:spcPts val="1800"/>
              </a:spcBef>
              <a:spcAft>
                <a:spcPts val="1200"/>
              </a:spcAft>
              <a:buNone/>
            </a:pPr>
            <a:r>
              <a:rPr lang="en" sz="2500">
                <a:highlight>
                  <a:schemeClr val="lt1"/>
                </a:highlight>
              </a:rPr>
              <a:t>金流 &amp; 帳戶 (Wallet &amp; Finance)</a:t>
            </a:r>
            <a:endParaRPr sz="2500">
              <a:highlight>
                <a:schemeClr val="lt1"/>
              </a:highlight>
            </a:endParaRPr>
          </a:p>
        </p:txBody>
      </p:sp>
      <p:sp>
        <p:nvSpPr>
          <p:cNvPr id="139" name="Google Shape;139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wallets: 電子錢包 每個 user_id (無論買家或賣家) 都有一個錢包 (一對一) 用於儲存 balance (餘額)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wallet_transactions: 錢包交易紀錄 wallets 的流水帳 記錄 TOPUP PAYMENT (支付)  WITHDRAWAL (提款) 等所有變動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highlight>
                  <a:schemeClr val="lt1"/>
                </a:highlight>
              </a:rPr>
              <a:t>bank_accounts: 賣家銀行帳戶 user_id (賣家) 用於提款的銀行資料 (一對一)</a:t>
            </a:r>
            <a:endParaRPr sz="20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前端程式</a:t>
            </a:r>
            <a:endParaRPr/>
          </a:p>
        </p:txBody>
      </p:sp>
      <p:sp>
        <p:nvSpPr>
          <p:cNvPr id="145" name="Google Shape;145;p2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1. 登入功能：驗證用戶輸入的帳號密碼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2. 商品資料展示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3. 加入購物車功能：點擊產品按鈕後，將商品加入購物車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4. 送出訂單功能：計算總金額並送出訂單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5. 買家儲值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6. 買家評論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>
                <a:solidFill>
                  <a:schemeClr val="dk1"/>
                </a:solidFill>
              </a:rPr>
              <a:t>7. 後台報表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9"/>
          <p:cNvSpPr txBox="1">
            <a:spLocks noGrp="1"/>
          </p:cNvSpPr>
          <p:nvPr>
            <p:ph type="title"/>
          </p:nvPr>
        </p:nvSpPr>
        <p:spPr>
          <a:xfrm>
            <a:off x="311700" y="490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API 呼叫流程整理</a:t>
            </a:r>
            <a:endParaRPr/>
          </a:p>
        </p:txBody>
      </p:sp>
      <p:graphicFrame>
        <p:nvGraphicFramePr>
          <p:cNvPr id="151" name="Google Shape;151;p29"/>
          <p:cNvGraphicFramePr/>
          <p:nvPr/>
        </p:nvGraphicFramePr>
        <p:xfrm>
          <a:off x="987175" y="675175"/>
          <a:ext cx="6839100" cy="4115100"/>
        </p:xfrm>
        <a:graphic>
          <a:graphicData uri="http://schemas.openxmlformats.org/drawingml/2006/table">
            <a:tbl>
              <a:tblPr>
                <a:solidFill>
                  <a:srgbClr val="0D1117"/>
                </a:solidFill>
                <a:tableStyleId>{178B2CF1-C75D-4F7E-A100-BD5A6AD9CF12}</a:tableStyleId>
              </a:tblPr>
              <a:tblGrid>
                <a:gridCol w="2065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7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 b="1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路徑</a:t>
                      </a:r>
                      <a:endParaRPr sz="1200" b="1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 b="1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控制器</a:t>
                      </a:r>
                      <a:endParaRPr sz="1200" b="1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 b="1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目的</a:t>
                      </a:r>
                      <a:endParaRPr sz="1200" b="1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/api/auth/**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AuthController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處理所有登入、註冊和 Token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/api/public/**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PublicProductController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公開的商品和評價查詢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/api/profile/me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ProfileController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（需登入）獲取/更新個人資料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/api/wallet/**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WalletController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（需登入）錢包餘額、儲值/提款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/api/cart/**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CartController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（買家） 購物車管理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/api/orders/**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OrderController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（買家） 結帳與訂單查詢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/api/ratings/**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RatingController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（買家） 新增/更新評價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/api/seller/account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BankAccountController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（賣家） 收款帳戶管理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/api/seller/orders/**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SellerOrderController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（賣家） 查詢收到的訂單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741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/api/seller/ratings/**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0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SellerRatingController</a:t>
                      </a:r>
                      <a:endParaRPr sz="10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  <a:latin typeface="Courier New"/>
                        <a:ea typeface="Courier New"/>
                        <a:cs typeface="Courier New"/>
                        <a:sym typeface="Courier New"/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1200"/>
                        </a:spcAft>
                        <a:buNone/>
                      </a:pPr>
                      <a:r>
                        <a:rPr lang="en" sz="1200">
                          <a:solidFill>
                            <a:srgbClr val="F0F6FC"/>
                          </a:solidFill>
                          <a:highlight>
                            <a:srgbClr val="0D1117"/>
                          </a:highlight>
                        </a:rPr>
                        <a:t>（賣家） 查詢收到的評價</a:t>
                      </a:r>
                      <a:endParaRPr sz="1200">
                        <a:solidFill>
                          <a:srgbClr val="F0F6FC"/>
                        </a:solidFill>
                        <a:highlight>
                          <a:srgbClr val="0D1117"/>
                        </a:highlight>
                      </a:endParaRPr>
                    </a:p>
                  </a:txBody>
                  <a:tcPr marL="123825" marR="123825" marT="57150" marB="57150">
                    <a:lnL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3D444D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0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2854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前端畫面區塊程式</a:t>
            </a:r>
            <a:endParaRPr/>
          </a:p>
        </p:txBody>
      </p:sp>
      <p:graphicFrame>
        <p:nvGraphicFramePr>
          <p:cNvPr id="157" name="Google Shape;157;p30"/>
          <p:cNvGraphicFramePr/>
          <p:nvPr/>
        </p:nvGraphicFramePr>
        <p:xfrm>
          <a:off x="148875" y="667150"/>
          <a:ext cx="8744550" cy="4541370"/>
        </p:xfrm>
        <a:graphic>
          <a:graphicData uri="http://schemas.openxmlformats.org/drawingml/2006/table">
            <a:tbl>
              <a:tblPr>
                <a:noFill/>
                <a:tableStyleId>{970359D5-66E4-4F31-8F93-66B10F3B2B4B}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50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區塊名稱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說明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登入區塊 (#login)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使用者輸入帳密(/login.html)，點擊登入按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鈕(/login.js)，</a:t>
                      </a:r>
                      <a:r>
                        <a:rPr lang="en">
                          <a:solidFill>
                            <a:srgbClr val="666666"/>
                          </a:solidFill>
                        </a:rPr>
                        <a:t>呼叫 AuthController的/api/auth/login</a:t>
                      </a:r>
                      <a:r>
                        <a:rPr lang="en"/>
                        <a:t> 產生JWT Token </a:t>
                      </a:r>
                      <a:r>
                        <a:rPr lang="en">
                          <a:solidFill>
                            <a:srgbClr val="666666"/>
                          </a:solidFill>
                        </a:rPr>
                        <a:t>(透過JwtUtil.generateToken(user))</a:t>
                      </a:r>
                      <a:r>
                        <a:rPr lang="en"/>
                        <a:t>.</a:t>
                      </a:r>
                      <a:endParaRPr/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666666"/>
                          </a:solidFill>
                        </a:rPr>
                        <a:t>然後判斷買家, 賣家, 或登入失敗.</a:t>
                      </a:r>
                      <a:endParaRPr>
                        <a:solidFill>
                          <a:srgbClr val="666666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666666"/>
                          </a:solidFill>
                        </a:rPr>
                        <a:t>驗證通過後, </a:t>
                      </a:r>
                      <a:r>
                        <a:rPr lang="en"/>
                        <a:t>將Token, Role存入local storage(使用者電腦), </a:t>
                      </a:r>
                      <a:r>
                        <a:rPr lang="en">
                          <a:solidFill>
                            <a:srgbClr val="666666"/>
                          </a:solidFill>
                        </a:rPr>
                        <a:t>但Token有有效期(設定在application.properties), 所以時間到, Token還是會失效(Server端為主). </a:t>
                      </a:r>
                      <a:endParaRPr>
                        <a:solidFill>
                          <a:srgbClr val="666666"/>
                        </a:solidFill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後端回傳401表示Token(密碼)錯誤. 如果顯示'登入API錯誤', 表示CORS跨網域失敗. </a:t>
                      </a:r>
                      <a:endParaRPr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產品列表 (#products)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點選商城首頁 (/products.html), </a:t>
                      </a:r>
                      <a:r>
                        <a:rPr lang="en">
                          <a:solidFill>
                            <a:schemeClr val="dk2"/>
                          </a:solidFill>
                        </a:rPr>
                        <a:t>呼叫 </a:t>
                      </a:r>
                      <a:r>
                        <a:rPr lang="en">
                          <a:solidFill>
                            <a:schemeClr val="dk2"/>
                          </a:solidFill>
                          <a:highlight>
                            <a:schemeClr val="lt1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api/public/products(ProductController)回傳的資料顯示於頁面</a:t>
                      </a:r>
                      <a:endParaRPr sz="1700">
                        <a:solidFill>
                          <a:schemeClr val="dk2"/>
                        </a:solidFill>
                        <a:highlight>
                          <a:schemeClr val="lt1"/>
                        </a:highlight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購物車 (#cart)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顯示目前購物車內容(/cart.html/js)CartController(/api/cart/)，可刪除商品、送出訂單cart.js</a:t>
                      </a:r>
                      <a:r>
                        <a:rPr lang="en">
                          <a:solidFill>
                            <a:srgbClr val="434343"/>
                          </a:solidFill>
                        </a:rPr>
                        <a:t>（呼叫/api/orders/checkout ）</a:t>
                      </a:r>
                      <a:endParaRPr>
                        <a:solidFill>
                          <a:srgbClr val="434343"/>
                        </a:solidFill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/>
                        <a:t>訂單管理 (#orders)</a:t>
                      </a:r>
                      <a:endParaRPr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顯示我的歷史訂單/api/orders.html, </a:t>
                      </a:r>
                      <a:r>
                        <a:rPr lang="en">
                          <a:solidFill>
                            <a:schemeClr val="dk2"/>
                          </a:solidFill>
                          <a:highlight>
                            <a:schemeClr val="lt1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呼叫(/api/orders/me)</a:t>
                      </a:r>
                      <a:endParaRPr>
                        <a:solidFill>
                          <a:schemeClr val="dk2"/>
                        </a:solidFill>
                        <a:highlight>
                          <a:schemeClr val="lt1"/>
                        </a:highlight>
                      </a:endParaRPr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1"/>
          <p:cNvSpPr txBox="1">
            <a:spLocks noGrp="1"/>
          </p:cNvSpPr>
          <p:nvPr>
            <p:ph type="title"/>
          </p:nvPr>
        </p:nvSpPr>
        <p:spPr>
          <a:xfrm>
            <a:off x="42900" y="8475"/>
            <a:ext cx="1104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登入功能</a:t>
            </a:r>
            <a:endParaRPr sz="2000"/>
          </a:p>
        </p:txBody>
      </p:sp>
      <p:pic>
        <p:nvPicPr>
          <p:cNvPr id="163" name="Google Shape;163;p31" title="Screenshot from 2025-11-25 01-33-43.png"/>
          <p:cNvPicPr preferRelativeResize="0"/>
          <p:nvPr/>
        </p:nvPicPr>
        <p:blipFill rotWithShape="1">
          <a:blip r:embed="rId3">
            <a:alphaModFix/>
          </a:blip>
          <a:srcRect l="3762" t="1690"/>
          <a:stretch/>
        </p:blipFill>
        <p:spPr>
          <a:xfrm>
            <a:off x="254275" y="413625"/>
            <a:ext cx="8231626" cy="47298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2"/>
          <p:cNvSpPr txBox="1">
            <a:spLocks noGrp="1"/>
          </p:cNvSpPr>
          <p:nvPr>
            <p:ph type="title"/>
          </p:nvPr>
        </p:nvSpPr>
        <p:spPr>
          <a:xfrm>
            <a:off x="0" y="0"/>
            <a:ext cx="15771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顯示商品</a:t>
            </a:r>
            <a:endParaRPr/>
          </a:p>
        </p:txBody>
      </p:sp>
      <p:pic>
        <p:nvPicPr>
          <p:cNvPr id="169" name="Google Shape;169;p32" title="Screenshot from 2025-11-25 01-40-38.png"/>
          <p:cNvPicPr preferRelativeResize="0"/>
          <p:nvPr/>
        </p:nvPicPr>
        <p:blipFill rotWithShape="1">
          <a:blip r:embed="rId3">
            <a:alphaModFix/>
          </a:blip>
          <a:srcRect l="4080" t="5855" r="-2398" b="-3932"/>
          <a:stretch/>
        </p:blipFill>
        <p:spPr>
          <a:xfrm>
            <a:off x="138025" y="617500"/>
            <a:ext cx="8065574" cy="4525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3"/>
          <p:cNvSpPr txBox="1">
            <a:spLocks noGrp="1"/>
          </p:cNvSpPr>
          <p:nvPr>
            <p:ph type="title"/>
          </p:nvPr>
        </p:nvSpPr>
        <p:spPr>
          <a:xfrm>
            <a:off x="0" y="0"/>
            <a:ext cx="1882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加入購物車</a:t>
            </a:r>
            <a:endParaRPr/>
          </a:p>
        </p:txBody>
      </p:sp>
      <p:pic>
        <p:nvPicPr>
          <p:cNvPr id="175" name="Google Shape;175;p33" title="Screenshot from 2025-11-25 12-43-46.png"/>
          <p:cNvPicPr preferRelativeResize="0"/>
          <p:nvPr/>
        </p:nvPicPr>
        <p:blipFill rotWithShape="1">
          <a:blip r:embed="rId3">
            <a:alphaModFix/>
          </a:blip>
          <a:srcRect l="3353" t="2761"/>
          <a:stretch/>
        </p:blipFill>
        <p:spPr>
          <a:xfrm>
            <a:off x="348700" y="475400"/>
            <a:ext cx="8143877" cy="4608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>
            <a:spLocks noGrp="1"/>
          </p:cNvSpPr>
          <p:nvPr>
            <p:ph type="title"/>
          </p:nvPr>
        </p:nvSpPr>
        <p:spPr>
          <a:xfrm>
            <a:off x="0" y="0"/>
            <a:ext cx="1926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購物車更新</a:t>
            </a:r>
            <a:endParaRPr/>
          </a:p>
        </p:txBody>
      </p:sp>
      <p:pic>
        <p:nvPicPr>
          <p:cNvPr id="181" name="Google Shape;181;p34" title="Screenshot from 2025-11-25 12-52-52.png"/>
          <p:cNvPicPr preferRelativeResize="0"/>
          <p:nvPr/>
        </p:nvPicPr>
        <p:blipFill rotWithShape="1">
          <a:blip r:embed="rId3">
            <a:alphaModFix/>
          </a:blip>
          <a:srcRect l="3353" t="5141"/>
          <a:stretch/>
        </p:blipFill>
        <p:spPr>
          <a:xfrm>
            <a:off x="305125" y="572700"/>
            <a:ext cx="7991299" cy="4412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5"/>
          <p:cNvSpPr txBox="1">
            <a:spLocks noGrp="1"/>
          </p:cNvSpPr>
          <p:nvPr>
            <p:ph type="title"/>
          </p:nvPr>
        </p:nvSpPr>
        <p:spPr>
          <a:xfrm>
            <a:off x="0" y="0"/>
            <a:ext cx="54123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5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handleCheckout（）</a:t>
            </a:r>
            <a:r>
              <a:rPr lang="en" b="1">
                <a:highlight>
                  <a:schemeClr val="lt1"/>
                </a:highlight>
              </a:rPr>
              <a:t>提交訂單功能</a:t>
            </a:r>
            <a:endParaRPr b="1">
              <a:highlight>
                <a:schemeClr val="lt1"/>
              </a:highlight>
            </a:endParaRPr>
          </a:p>
        </p:txBody>
      </p:sp>
      <p:pic>
        <p:nvPicPr>
          <p:cNvPr id="187" name="Google Shape;187;p35" title="Screenshot from 2025-11-25 13-52-58.png"/>
          <p:cNvPicPr preferRelativeResize="0"/>
          <p:nvPr/>
        </p:nvPicPr>
        <p:blipFill rotWithShape="1">
          <a:blip r:embed="rId3">
            <a:alphaModFix/>
          </a:blip>
          <a:srcRect l="2872" t="13659" r="54883" b="11411"/>
          <a:stretch/>
        </p:blipFill>
        <p:spPr>
          <a:xfrm>
            <a:off x="4450376" y="515825"/>
            <a:ext cx="4528973" cy="4518701"/>
          </a:xfrm>
          <a:prstGeom prst="rect">
            <a:avLst/>
          </a:prstGeom>
          <a:noFill/>
          <a:ln>
            <a:noFill/>
          </a:ln>
        </p:spPr>
      </p:pic>
      <p:sp>
        <p:nvSpPr>
          <p:cNvPr id="188" name="Google Shape;188;p35"/>
          <p:cNvSpPr txBox="1"/>
          <p:nvPr/>
        </p:nvSpPr>
        <p:spPr>
          <a:xfrm>
            <a:off x="77500" y="572700"/>
            <a:ext cx="4162500" cy="453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</a:rPr>
              <a:t>購物車結帳流程（handleCheckout）：</a:t>
            </a: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</a:rPr>
              <a:t>功能：</a:t>
            </a: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</a:rPr>
              <a:t>1.確認購物車是否有商品</a:t>
            </a: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</a:rPr>
              <a:t>2.檢查錢包餘額</a:t>
            </a: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</a:rPr>
              <a:t>3.將獲得的購物車內容 POST 請求至後端</a:t>
            </a:r>
            <a:endParaRPr sz="1300" b="1">
              <a:solidFill>
                <a:schemeClr val="dk1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300" b="1">
                <a:solidFill>
                  <a:schemeClr val="dk1"/>
                </a:solidFill>
              </a:rPr>
              <a:t>邏輯：</a:t>
            </a:r>
            <a:endParaRPr sz="1300" b="1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用Token的方式取得購物車資料。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取得購物車內容並讀取 totalPrice。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假如錢包餘額不足，顯示錯誤並提示儲值，流程中止。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若餘額足夠，停用結帳與清空按鈕。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呼叫後端 建立訂單。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若成功：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顯示成功訊息，包含訂單張數。</a:t>
            </a:r>
            <a:endParaRPr sz="1100">
              <a:solidFill>
                <a:schemeClr val="dk1"/>
              </a:solidFill>
            </a:endParaRPr>
          </a:p>
          <a:p>
            <a:pPr marL="914400" lvl="1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Char char="○"/>
            </a:pPr>
            <a:r>
              <a:rPr lang="en" sz="1100">
                <a:solidFill>
                  <a:schemeClr val="dk1"/>
                </a:solidFill>
              </a:rPr>
              <a:t>延遲 1 秒更新錢包與購物車資料。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若失敗：顯示錯誤訊息（後端 message 或預設提示）。</a:t>
            </a:r>
            <a:endParaRPr sz="1100">
              <a:solidFill>
                <a:schemeClr val="dk1"/>
              </a:solidFill>
            </a:endParaRPr>
          </a:p>
          <a:p>
            <a:pPr marL="457200" lvl="0" indent="-2984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AutoNum type="arabicPeriod"/>
            </a:pPr>
            <a:r>
              <a:rPr lang="en" sz="1100">
                <a:solidFill>
                  <a:schemeClr val="dk1"/>
                </a:solidFill>
              </a:rPr>
              <a:t>不論成功失敗，最後都會重新啟用按鈕。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6"/>
          <p:cNvSpPr txBox="1">
            <a:spLocks noGrp="1"/>
          </p:cNvSpPr>
          <p:nvPr>
            <p:ph type="title"/>
          </p:nvPr>
        </p:nvSpPr>
        <p:spPr>
          <a:xfrm>
            <a:off x="0" y="0"/>
            <a:ext cx="5005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5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renderCart </a:t>
            </a:r>
            <a:r>
              <a:rPr lang="en">
                <a:highlight>
                  <a:schemeClr val="lt1"/>
                </a:highlight>
              </a:rPr>
              <a:t>顯示訂單清單</a:t>
            </a:r>
            <a:endParaRPr>
              <a:highlight>
                <a:schemeClr val="lt1"/>
              </a:highlight>
            </a:endParaRPr>
          </a:p>
        </p:txBody>
      </p:sp>
      <p:pic>
        <p:nvPicPr>
          <p:cNvPr id="194" name="Google Shape;194;p36" title="Screenshot from 2025-11-25 14-52-3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1999" y="572700"/>
            <a:ext cx="4571999" cy="4505672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36"/>
          <p:cNvSpPr txBox="1"/>
          <p:nvPr/>
        </p:nvSpPr>
        <p:spPr>
          <a:xfrm>
            <a:off x="0" y="572700"/>
            <a:ext cx="41844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1.Token獲取後端購物車內容(cart.js, fetchMyCart())，檢查購物有沒有商品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2.renderCart() 建立顯示畫面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fetchOrderDetails(orderId) - 顯示特定訂單詳細資料</a:t>
            </a:r>
            <a:endParaRPr/>
          </a:p>
        </p:txBody>
      </p:sp>
      <p:pic>
        <p:nvPicPr>
          <p:cNvPr id="201" name="Google Shape;201;p37" title="Screenshot from 2025-11-25 15-17-3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73267" y="1017725"/>
            <a:ext cx="4270734" cy="4125774"/>
          </a:xfrm>
          <a:prstGeom prst="rect">
            <a:avLst/>
          </a:prstGeom>
          <a:noFill/>
          <a:ln>
            <a:noFill/>
          </a:ln>
        </p:spPr>
      </p:pic>
      <p:sp>
        <p:nvSpPr>
          <p:cNvPr id="202" name="Google Shape;202;p37"/>
          <p:cNvSpPr txBox="1"/>
          <p:nvPr/>
        </p:nvSpPr>
        <p:spPr>
          <a:xfrm>
            <a:off x="387600" y="1017725"/>
            <a:ext cx="4184400" cy="129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功能：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1.顯示特定訂單內容</a:t>
            </a:r>
            <a:endParaRPr sz="18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2.呼叫 renderOrderDetails(order) 來繪製顯示畫面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後端架構概述</a:t>
            </a:r>
            <a:endParaRPr/>
          </a:p>
        </p:txBody>
      </p:sp>
      <p:sp>
        <p:nvSpPr>
          <p:cNvPr id="208" name="Google Shape;208;p3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使用 Spring Boot 框架建構 RESTful API 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模型層 (Model) ：定義資料結構 (JAP PO -&gt; VO)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控制層 (Controller) ：處理前端請求(controller-&gt;service-&gt;DAO JPA Repository)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資料存取層 (DAO) ：連接資料庫 (JPA Repository)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使用 JWT 驗證用戶身份</a:t>
            </a:r>
            <a:endParaRPr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資料庫：儲存使用者, 商品, 訂單明細, 電子錢包, 銀行餘額, 購物車資料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260300" cy="630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JWT 驗證與帳號 - JwtUtil </a:t>
            </a:r>
            <a:endParaRPr/>
          </a:p>
        </p:txBody>
      </p:sp>
      <p:sp>
        <p:nvSpPr>
          <p:cNvPr id="214" name="Google Shape;214;p39"/>
          <p:cNvSpPr txBox="1"/>
          <p:nvPr/>
        </p:nvSpPr>
        <p:spPr>
          <a:xfrm>
            <a:off x="2064800" y="1075325"/>
            <a:ext cx="2696100" cy="198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產生 JWT : (右圖)</a:t>
            </a: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generateToken() </a:t>
            </a: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建立或是獲取資訊提供JWT產生字串</a:t>
            </a: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&lt;加入額外資訊: role, user id&gt;</a:t>
            </a: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產生JWT字串:</a:t>
            </a: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createToken() </a:t>
            </a: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有效期: application.properties裡設定</a:t>
            </a:r>
            <a:endParaRPr sz="1200">
              <a:solidFill>
                <a:schemeClr val="dk2"/>
              </a:solidFill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jwt.expiration.ms=86400000 //24小時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215" name="Google Shape;215;p39" title="Screenshot from 2025-11-25 17-14-48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0900" y="445025"/>
            <a:ext cx="4286312" cy="48386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39" title="Screenshot from 2025-11-25 17-31-03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3061025"/>
            <a:ext cx="4127400" cy="2063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39"/>
          <p:cNvSpPr txBox="1"/>
          <p:nvPr/>
        </p:nvSpPr>
        <p:spPr>
          <a:xfrm>
            <a:off x="0" y="2506925"/>
            <a:ext cx="1358400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驗證JWT : (下圖)</a:t>
            </a:r>
            <a:endParaRPr sz="1200">
              <a:solidFill>
                <a:schemeClr val="dk2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2"/>
                </a:solidFill>
              </a:rPr>
              <a:t>isTokenValid() 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44832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AuthController</a:t>
            </a:r>
            <a:r>
              <a:rPr lang="en" sz="2500">
                <a:highlight>
                  <a:schemeClr val="lt1"/>
                </a:highlight>
              </a:rPr>
              <a:t> </a:t>
            </a:r>
            <a:r>
              <a:rPr lang="en" sz="2500"/>
              <a:t>功能簡介</a:t>
            </a:r>
            <a:endParaRPr sz="2500"/>
          </a:p>
        </p:txBody>
      </p:sp>
      <p:sp>
        <p:nvSpPr>
          <p:cNvPr id="223" name="Google Shape;223;p40"/>
          <p:cNvSpPr txBox="1"/>
          <p:nvPr/>
        </p:nvSpPr>
        <p:spPr>
          <a:xfrm>
            <a:off x="311700" y="1017725"/>
            <a:ext cx="87216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@ResController, @RequestMapping("/api/auth") 定義REST API端點</a:t>
            </a:r>
            <a:endParaRPr sz="180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@Autowired: 注入UserService, JwtUtil, UserDAO, PasswordEncoder</a:t>
            </a:r>
            <a:endParaRPr sz="1800">
              <a:solidFill>
                <a:schemeClr val="dk2"/>
              </a:solidFill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使用jwtUtil.generateToken(user): 當使用者登入後, 系統會產生帳號名稱(email), 角色(買家或賣家), User ID, 簽發時間, 有效期限的JWT Token.</a:t>
            </a:r>
            <a:endParaRPr sz="180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Courier New"/>
              <a:buChar char="●"/>
            </a:pPr>
            <a:r>
              <a:rPr lang="en" sz="1800">
                <a:solidFill>
                  <a:schemeClr val="dk2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HS256演算法進行加密簽章</a:t>
            </a:r>
            <a:endParaRPr sz="1800">
              <a:solidFill>
                <a:schemeClr val="dk2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4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登入驗證API - AuthController</a:t>
            </a:r>
            <a:endParaRPr/>
          </a:p>
        </p:txBody>
      </p:sp>
      <p:sp>
        <p:nvSpPr>
          <p:cNvPr id="229" name="Google Shape;229;p4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954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 i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@PostMapping</a:t>
            </a: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("/login")	// "/api/auth/login"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public ResponseEntity&lt;?&gt; login(</a:t>
            </a:r>
            <a:r>
              <a:rPr lang="en" sz="900" b="1" i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@Valid</a:t>
            </a: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" sz="900" b="1" i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@RequestBody</a:t>
            </a: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LoginRequestVO requestVO) {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try {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// 1. 呼叫 Service 驗證帳號密碼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UserPO user = userService.login(requestVO);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// 2. 產生 JWT Token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String token = jwtUtil.generateToken(user);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// 3. 回傳包含 token + adminCode 的資訊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return ResponseEntity.</a:t>
            </a:r>
            <a:r>
              <a:rPr lang="en" sz="900" b="1" i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ok</a:t>
            </a: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new AuthResponseVO(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        "登入成功",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        user.getUserId(),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        user.getName(),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        user.getEmail(),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        user.getRole(),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        token,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        user.getAdminCode() // 一般使用者通常是 null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     )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);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} catch (Exception e) {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return ResponseEntity.</a:t>
            </a:r>
            <a:r>
              <a:rPr lang="en" sz="900" b="1" i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status</a:t>
            </a: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" sz="900" b="1" i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HttpStatus</a:t>
            </a: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900" b="1" i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UNAUTHORIZED</a:t>
            </a: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).body(e.getMessage());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}</a:t>
            </a:r>
            <a:endParaRPr sz="900" b="1"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b="1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endParaRPr sz="900" b="1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2"/>
          <p:cNvSpPr txBox="1">
            <a:spLocks noGrp="1"/>
          </p:cNvSpPr>
          <p:nvPr>
            <p:ph type="title"/>
          </p:nvPr>
        </p:nvSpPr>
        <p:spPr>
          <a:xfrm>
            <a:off x="311700" y="30925"/>
            <a:ext cx="2763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 實體類別</a:t>
            </a:r>
            <a:endParaRPr/>
          </a:p>
        </p:txBody>
      </p:sp>
      <p:sp>
        <p:nvSpPr>
          <p:cNvPr id="235" name="Google Shape;235;p42"/>
          <p:cNvSpPr txBox="1">
            <a:spLocks noGrp="1"/>
          </p:cNvSpPr>
          <p:nvPr>
            <p:ph type="body" idx="1"/>
          </p:nvPr>
        </p:nvSpPr>
        <p:spPr>
          <a:xfrm>
            <a:off x="311700" y="603625"/>
            <a:ext cx="2907300" cy="155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</a:rPr>
              <a:t>/**</a:t>
            </a:r>
            <a:endParaRPr sz="11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</a:rPr>
              <a:t>* PO (Entity) - 對應 `products` 商品資料表</a:t>
            </a:r>
            <a:endParaRPr sz="11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</a:rPr>
              <a:t>*/</a:t>
            </a:r>
            <a:endParaRPr sz="11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chemeClr val="dk1"/>
                </a:solidFill>
                <a:highlight>
                  <a:schemeClr val="lt1"/>
                </a:highlight>
              </a:rPr>
              <a:t>@Entity</a:t>
            </a:r>
            <a:endParaRPr sz="1100" i="1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chemeClr val="dk1"/>
                </a:solidFill>
                <a:highlight>
                  <a:schemeClr val="lt1"/>
                </a:highlight>
              </a:rPr>
              <a:t>@Table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</a:rPr>
              <a:t>(name = "products")</a:t>
            </a:r>
            <a:endParaRPr sz="11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chemeClr val="dk1"/>
                </a:solidFill>
                <a:highlight>
                  <a:schemeClr val="lt1"/>
                </a:highlight>
              </a:rPr>
              <a:t>@Data</a:t>
            </a:r>
            <a:endParaRPr sz="1100" i="1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chemeClr val="dk1"/>
                </a:solidFill>
                <a:highlight>
                  <a:schemeClr val="lt1"/>
                </a:highlight>
              </a:rPr>
              <a:t>@NoArgsConstructor</a:t>
            </a:r>
            <a:endParaRPr sz="1100" i="1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</a:rPr>
              <a:t>public class ProductPO {</a:t>
            </a:r>
            <a:endParaRPr/>
          </a:p>
        </p:txBody>
      </p:sp>
      <p:graphicFrame>
        <p:nvGraphicFramePr>
          <p:cNvPr id="236" name="Google Shape;236;p42"/>
          <p:cNvGraphicFramePr/>
          <p:nvPr/>
        </p:nvGraphicFramePr>
        <p:xfrm>
          <a:off x="3218975" y="154513"/>
          <a:ext cx="5833725" cy="4834475"/>
        </p:xfrm>
        <a:graphic>
          <a:graphicData uri="http://schemas.openxmlformats.org/drawingml/2006/table">
            <a:tbl>
              <a:tblPr>
                <a:noFill/>
                <a:tableStyleId>{970359D5-66E4-4F31-8F93-66B10F3B2B4B}</a:tableStyleId>
              </a:tblPr>
              <a:tblGrid>
                <a:gridCol w="1944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44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4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欄位名稱（Database）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說明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備註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product_id</a:t>
                      </a:r>
                      <a:endParaRPr sz="9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商品主鍵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PK(Primary Key)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chemeClr val="dk1"/>
                          </a:solidFill>
                          <a:highlight>
                            <a:schemeClr val="lt1"/>
                          </a:highlight>
                          <a:latin typeface="Courier New"/>
                          <a:ea typeface="Courier New"/>
                          <a:cs typeface="Courier New"/>
                          <a:sym typeface="Courier New"/>
                        </a:rPr>
                        <a:t>seller_id</a:t>
                      </a:r>
                      <a:endParaRPr sz="900">
                        <a:solidFill>
                          <a:schemeClr val="dk1"/>
                        </a:solidFill>
                        <a:highlight>
                          <a:schemeClr val="lt1"/>
                        </a:highlight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關聯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FK(</a:t>
                      </a:r>
                      <a:r>
                        <a:rPr lang="en" sz="900">
                          <a:solidFill>
                            <a:schemeClr val="dk1"/>
                          </a:solidFill>
                        </a:rPr>
                        <a:t>Foreign Key </a:t>
                      </a:r>
                      <a:r>
                        <a:rPr lang="en" sz="900"/>
                        <a:t>)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category_id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商品分類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"電子產品", "食品" 等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name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商品名稱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最長 255 字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82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description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商品敘述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TEXT（</a:t>
                      </a:r>
                      <a:r>
                        <a:rPr lang="en" sz="900">
                          <a:solidFill>
                            <a:schemeClr val="dk1"/>
                          </a:solidFill>
                        </a:rPr>
                        <a:t>約能儲存 16,383 個中文字元</a:t>
                      </a:r>
                      <a:r>
                        <a:rPr lang="en" sz="900"/>
                        <a:t>）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8247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price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商品價格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最多可儲存 10 位數字，其中有 2 位是小數位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stock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庫存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integer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image_url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照片連結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>
                          <a:solidFill>
                            <a:schemeClr val="dk1"/>
                          </a:solidFill>
                        </a:rPr>
                        <a:t>最長 255 字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created_at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時間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建立時間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4077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updated_at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時間</a:t>
                      </a:r>
                      <a:endParaRPr sz="9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900"/>
                        <a:t>更新時間</a:t>
                      </a:r>
                      <a:endParaRPr sz="9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ProductController</a:t>
            </a:r>
            <a:endParaRPr/>
          </a:p>
        </p:txBody>
      </p:sp>
      <p:sp>
        <p:nvSpPr>
          <p:cNvPr id="242" name="Google Shape;242;p4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/>
              <a:t>@ResController, @RequestMapping("/api/products") 定義REST API端</a:t>
            </a:r>
            <a:endParaRPr/>
          </a:p>
          <a:p>
            <a:pPr marL="4572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/>
              <a:t>@Autowired: 注入 </a:t>
            </a:r>
            <a:r>
              <a:rPr lang="en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ProductService (只有seller可以訪問), JPA Repository</a:t>
            </a:r>
            <a:endParaRPr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●"/>
            </a:pPr>
            <a:r>
              <a:rPr lang="en"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使用 MySQL 資料庫，儲存產品資料 (products 表)</a:t>
            </a:r>
            <a:endParaRPr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4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Order 實體類別</a:t>
            </a:r>
            <a:endParaRPr/>
          </a:p>
        </p:txBody>
      </p:sp>
      <p:sp>
        <p:nvSpPr>
          <p:cNvPr id="248" name="Google Shape;248;p4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4260300" cy="21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/>
          </a:bodyPr>
          <a:lstStyle/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@Entity</a:t>
            </a:r>
            <a:endParaRPr sz="900" i="1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@Table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(name = "orders")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// (關鍵) 絕對不要用 @Data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@Getter</a:t>
            </a:r>
            <a:endParaRPr sz="900" i="1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@Setter</a:t>
            </a:r>
            <a:endParaRPr sz="900" i="1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@NoArgsConstructor</a:t>
            </a:r>
            <a:endParaRPr sz="900" i="1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@ToString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(exclude = {"buyer", "seller", "items"}) // (關鍵) 排除所有關聯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@EqualsAndHashCode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(exclude = {"buyer", "seller", "items"}) // (關鍵) 排除所有關聯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public class OrderPO {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@Id</a:t>
            </a:r>
            <a:endParaRPr sz="900" i="1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@GeneratedValue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(strategy =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GenerationType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IDENTITY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@Column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(name = "order_id")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private Long orderId;</a:t>
            </a:r>
            <a:endParaRPr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  <p:pic>
        <p:nvPicPr>
          <p:cNvPr id="249" name="Google Shape;249;p44" title="Screenshot from 2025-11-25 20-43-05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3337525"/>
            <a:ext cx="8839200" cy="1717843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44"/>
          <p:cNvSpPr txBox="1">
            <a:spLocks noGrp="1"/>
          </p:cNvSpPr>
          <p:nvPr>
            <p:ph type="body" idx="1"/>
          </p:nvPr>
        </p:nvSpPr>
        <p:spPr>
          <a:xfrm>
            <a:off x="4572000" y="1152475"/>
            <a:ext cx="4260300" cy="218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/**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 @ManyToOne: 多筆訂單「屬於」一個買家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*/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@ManyToOne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(fetch =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FetchType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LAZY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@JoinColumn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(name = "buyer_id", nullable = false)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private UserPO buyer;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/**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 @ManyToOne: 多筆訂單「屬於」一個賣家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*/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@ManyToOne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(fetch =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FetchType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LAZY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@JoinColumn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(name = "seller_id", nullable = false)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private UserPO seller;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/**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 @OneToMany: 一筆訂單「擁有多個」訂單項目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 (關鍵) mappedBy = "order"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 (關鍵) cascade = CascadeType.ALL (當儲存 OrderPO 時，自動儲存所有 items)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*/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@OneToMany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mappedBy = "order",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cascade =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CascadeType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ALL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fetch =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FetchType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LAZY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, // (關鍵) 必須是 LAZY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22222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orphanRemoval = true</a:t>
            </a:r>
            <a:endParaRPr sz="9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)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45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OrderController功能簡介</a:t>
            </a:r>
            <a:endParaRPr/>
          </a:p>
        </p:txBody>
      </p:sp>
      <p:sp>
        <p:nvSpPr>
          <p:cNvPr id="256" name="Google Shape;256;p45"/>
          <p:cNvSpPr txBox="1">
            <a:spLocks noGrp="1"/>
          </p:cNvSpPr>
          <p:nvPr>
            <p:ph type="body" idx="1"/>
          </p:nvPr>
        </p:nvSpPr>
        <p:spPr>
          <a:xfrm>
            <a:off x="311700" y="572700"/>
            <a:ext cx="8520600" cy="11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i="1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@PostMapping</a:t>
            </a: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("/checkout")	// /api/orders/checkout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public ResponseEntity&lt;?&gt; checkoutFromMyCart() {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try {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// (Service 會回傳「此次」建立的所有新訂單)</a:t>
            </a:r>
            <a:endParaRPr sz="1100">
              <a:solidFill>
                <a:schemeClr val="dk1"/>
              </a:solidFill>
              <a:highlight>
                <a:schemeClr val="lt1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254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List&lt;OrderResponseVO&gt; newOrders = orderService.checkoutFromMyCart();</a:t>
            </a:r>
            <a:endParaRPr sz="2000"/>
          </a:p>
        </p:txBody>
      </p:sp>
      <p:sp>
        <p:nvSpPr>
          <p:cNvPr id="257" name="Google Shape;257;p45"/>
          <p:cNvSpPr txBox="1"/>
          <p:nvPr/>
        </p:nvSpPr>
        <p:spPr>
          <a:xfrm>
            <a:off x="311700" y="1727100"/>
            <a:ext cx="6376500" cy="346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</a:rPr>
              <a:t>流程說明：</a:t>
            </a:r>
            <a:endParaRPr sz="9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此 API 不需要 Request Body，它會自動從 Token 抓取買家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/**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* 從 Token 中解析出「使用者名稱 (Email)」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* JwtUtil.java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*/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public String extractUsername(String token) {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   return extractClaim(token, Claims::getSubject);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}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儲存「訂單」, (因為 cascade = ALL, 這會「同時」儲存所有 OrderItemPO)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OrderPO savedOrder = orderDAO.save(newOrder);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為了不要有recursion造成stackoverflow(不斷循環查詢造成記憶體爆掉), 要設定成"LAZY"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OrderPO (JAP entity) : 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</a:rPr>
              <a:t>@OneToMany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(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   mappedBy = "order",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   cascade = CascadeType.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</a:rPr>
              <a:t>ALL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,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   fetch = FetchType.</a:t>
            </a:r>
            <a:r>
              <a:rPr lang="en" sz="900" i="1">
                <a:solidFill>
                  <a:schemeClr val="dk1"/>
                </a:solidFill>
                <a:highlight>
                  <a:schemeClr val="lt1"/>
                </a:highlight>
              </a:rPr>
              <a:t>LAZY</a:t>
            </a: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, // (關鍵) 必須是 LAZY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    orphanRemoval = true</a:t>
            </a:r>
            <a:endParaRPr sz="900">
              <a:solidFill>
                <a:schemeClr val="dk1"/>
              </a:solidFill>
              <a:highlight>
                <a:schemeClr val="lt1"/>
              </a:highlight>
            </a:endParaRPr>
          </a:p>
          <a:p>
            <a:pPr marL="25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dk1"/>
                </a:solidFill>
                <a:highlight>
                  <a:schemeClr val="lt1"/>
                </a:highlight>
              </a:rPr>
              <a:t>   )</a:t>
            </a:r>
            <a:endParaRPr sz="1000">
              <a:solidFill>
                <a:schemeClr val="dk1"/>
              </a:solidFill>
              <a:highlight>
                <a:schemeClr val="lt1"/>
              </a:highlight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46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OrderController功能簡介</a:t>
            </a:r>
            <a:endParaRPr/>
          </a:p>
        </p:txBody>
      </p:sp>
      <p:sp>
        <p:nvSpPr>
          <p:cNvPr id="263" name="Google Shape;263;p46"/>
          <p:cNvSpPr txBox="1"/>
          <p:nvPr/>
        </p:nvSpPr>
        <p:spPr>
          <a:xfrm>
            <a:off x="311700" y="572700"/>
            <a:ext cx="852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查詢全部訂單（管理員用）：施工中...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64" name="Google Shape;264;p46"/>
          <p:cNvSpPr txBox="1"/>
          <p:nvPr/>
        </p:nvSpPr>
        <p:spPr>
          <a:xfrm>
            <a:off x="362050" y="1972425"/>
            <a:ext cx="8520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查詢單筆訂單（含明細）：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4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</TotalTime>
  <Words>1561</Words>
  <Application>Microsoft Office PowerPoint</Application>
  <PresentationFormat>如螢幕大小 (16:9)</PresentationFormat>
  <Paragraphs>377</Paragraphs>
  <Slides>38</Slides>
  <Notes>35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38</vt:i4>
      </vt:variant>
    </vt:vector>
  </HeadingPairs>
  <TitlesOfParts>
    <vt:vector size="42" baseType="lpstr">
      <vt:lpstr>Arial</vt:lpstr>
      <vt:lpstr>Courier New</vt:lpstr>
      <vt:lpstr>Wingdings</vt:lpstr>
      <vt:lpstr>Simple Light</vt:lpstr>
      <vt:lpstr>專案名稱: 全端電商平台</vt:lpstr>
      <vt:lpstr>大綱</vt:lpstr>
      <vt:lpstr>專案介紹</vt:lpstr>
      <vt:lpstr>使用案例（Use Case）</vt:lpstr>
      <vt:lpstr>系統功能說明</vt:lpstr>
      <vt:lpstr>首頁</vt:lpstr>
      <vt:lpstr>註冊系統</vt:lpstr>
      <vt:lpstr>重設密碼</vt:lpstr>
      <vt:lpstr>登入系統</vt:lpstr>
      <vt:lpstr>瀏覽產品 - 商城首頁</vt:lpstr>
      <vt:lpstr>管理購物車</vt:lpstr>
      <vt:lpstr>送出訂單</vt:lpstr>
      <vt:lpstr>查詢歷史訂單</vt:lpstr>
      <vt:lpstr>資料庫模型圖</vt:lpstr>
      <vt:lpstr>資料庫模型圖說明 - 使用者 &amp; 認證 (User &amp; Auth) </vt:lpstr>
      <vt:lpstr>商品 &amp; 分類 (Product &amp; Catalog)</vt:lpstr>
      <vt:lpstr>購物車 &amp; 訂單 (Cart &amp; Order) </vt:lpstr>
      <vt:lpstr>金流 &amp; 帳戶 (Wallet &amp; Finance)</vt:lpstr>
      <vt:lpstr>前端程式</vt:lpstr>
      <vt:lpstr>API 呼叫流程整理</vt:lpstr>
      <vt:lpstr>前端畫面區塊程式</vt:lpstr>
      <vt:lpstr>登入功能</vt:lpstr>
      <vt:lpstr>顯示商品</vt:lpstr>
      <vt:lpstr>加入購物車</vt:lpstr>
      <vt:lpstr>購物車更新</vt:lpstr>
      <vt:lpstr>handleCheckout（）提交訂單功能</vt:lpstr>
      <vt:lpstr>renderCart 顯示訂單清單</vt:lpstr>
      <vt:lpstr>fetchOrderDetails(orderId) - 顯示特定訂單詳細資料</vt:lpstr>
      <vt:lpstr>後端架構概述</vt:lpstr>
      <vt:lpstr>JWT 驗證與帳號 - JwtUtil </vt:lpstr>
      <vt:lpstr>AuthController 功能簡介</vt:lpstr>
      <vt:lpstr>登入驗證API - AuthController</vt:lpstr>
      <vt:lpstr>Product 實體類別</vt:lpstr>
      <vt:lpstr>ProductController</vt:lpstr>
      <vt:lpstr>Order 實體類別</vt:lpstr>
      <vt:lpstr>OrderController功能簡介</vt:lpstr>
      <vt:lpstr>OrderController功能簡介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專案名稱: 全端電商平台</dc:title>
  <cp:lastModifiedBy>student</cp:lastModifiedBy>
  <cp:revision>6</cp:revision>
  <dcterms:modified xsi:type="dcterms:W3CDTF">2025-11-26T05:33:04Z</dcterms:modified>
</cp:coreProperties>
</file>