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1" r:id="rId2"/>
  </p:sldMasterIdLst>
  <p:notesMasterIdLst>
    <p:notesMasterId r:id="rId51"/>
  </p:notesMasterIdLst>
  <p:sldIdLst>
    <p:sldId id="256" r:id="rId3"/>
    <p:sldId id="257" r:id="rId4"/>
    <p:sldId id="258" r:id="rId5"/>
    <p:sldId id="259" r:id="rId6"/>
    <p:sldId id="260" r:id="rId7"/>
    <p:sldId id="291" r:id="rId8"/>
    <p:sldId id="292" r:id="rId9"/>
    <p:sldId id="29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05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8B2CF1-C75D-4F7E-A100-BD5A6AD9CF12}">
  <a:tblStyle styleId="{178B2CF1-C75D-4F7E-A100-BD5A6AD9CF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0359D5-66E4-4F31-8F93-66B10F3B2B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0" y="9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e49a6e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e49a6e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e49a6e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e49a6e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1e49a6e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1e49a6e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2400b4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2400b4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2400b4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2400b4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2400b42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2400b42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2400b42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2400b42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2400b42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2400b42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400b42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400b42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2400b42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2400b42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2400b4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2400b4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400b42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2400b42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2400b42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2400b42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400b42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400b42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2400b42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2400b42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2400b42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2400b42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400b42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2400b42d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3c521b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3c521b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3c521b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3c521b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3c521b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3c521b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c521bf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c521bf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3c521bf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3c521bf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3c521bf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3c521bf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3c521bf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3c521bf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3c521bf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93c521bf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3c521bf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3c521bf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93c521bf0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93c521bf0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3c521bf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3c521bf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93c521bf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93c521bf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3c521bf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3c521bf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3c521bf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3c521bf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3c521bf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3c521bf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3c521bf0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3c521bf0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2187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781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450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900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206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3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505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660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334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746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63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557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62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99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專案名稱: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全端電商平台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成員: Eric, Vincent, Stone, Barry, Alex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大綱</a:t>
            </a:r>
            <a:endParaRPr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1.專案介紹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2.使用案例（Use Case）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3.系統功能說明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4.資料庫模型圖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5.前端程式架構說明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6.後端程式架構說明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2"/>
                </a:solidFill>
              </a:rPr>
              <a:t>專案介紹</a:t>
            </a:r>
            <a:endParaRPr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這是一個功能完整的全端電商平台專案，模擬一個多賣家 (Multi-Seller) 的市集（如蝦皮或 Amazon）。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**後端 (Backend):**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Java Spring Boot 構建，包含 JWT 安全認證、RESTful API、JPA 資料庫管理和多角色權限控制。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**前端 (Frontend):**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Vanilla JavaScript (ES6+), HTML5, 和 CSS3 構建，不依賴任何框架 (like React/Vue)，專注於透過 `fetch` API 實作非同步 (Async/Await) 頁面渲染。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537790" y="0"/>
            <a:ext cx="36904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使用案例</a:t>
            </a:r>
            <a:r>
              <a:rPr lang="en" dirty="0"/>
              <a:t>（Use Case）</a:t>
            </a:r>
            <a:endParaRPr dirty="0"/>
          </a:p>
        </p:txBody>
      </p:sp>
      <p:graphicFrame>
        <p:nvGraphicFramePr>
          <p:cNvPr id="73" name="Google Shape;73;p16"/>
          <p:cNvGraphicFramePr/>
          <p:nvPr>
            <p:extLst>
              <p:ext uri="{D42A27DB-BD31-4B8C-83A1-F6EECF244321}">
                <p14:modId xmlns:p14="http://schemas.microsoft.com/office/powerpoint/2010/main" val="2248640310"/>
              </p:ext>
            </p:extLst>
          </p:nvPr>
        </p:nvGraphicFramePr>
        <p:xfrm>
          <a:off x="285196" y="572700"/>
          <a:ext cx="8617900" cy="4568148"/>
        </p:xfrm>
        <a:graphic>
          <a:graphicData uri="http://schemas.openxmlformats.org/drawingml/2006/table">
            <a:tbl>
              <a:tblPr>
                <a:noFill/>
                <a:tableStyleId>{178B2CF1-C75D-4F7E-A100-BD5A6AD9CF12}</a:tableStyleId>
              </a:tblPr>
              <a:tblGrid>
                <a:gridCol w="113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使用案例 (Use Case)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包含功能/說明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相關角色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用戶認證 (Authentication)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註冊、登入、發送 Email 驗證碼、重設密碼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商品瀏覽 (Product Browsing)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瀏覽商品列表、查看商品詳情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購物車管理 (Cart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加入購物車、修改/刪除購物車項目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訂單結帳 (Order Checkout)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執行結帳流程，自動進行多賣家拆單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買家訂單查詢 (Buyer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查詢買家自己的訂單列表與詳情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評價管理 (Rating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買家： 建立/更新商品評價 。賣家： 查詢商品評價 。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買家錢包儲值 (Buyer Wallet Top-up)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增加電子錢包餘額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Buyer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賣家商品管理 (Seller Product Mgt.)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新增商品 (上架)、修改/刪除商品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IX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賣家訂單查詢 (Seller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查詢賣家收到的訂單列表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X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賣家提款管理 (Seller Withdrawal)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設定提款帳戶、申請錢包提款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/>
                        <a:t>XI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後臺管理員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報表數據與會員管理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 smtClean="0"/>
                        <a:t>Admin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1889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系統功能說明</a:t>
            </a:r>
            <a:endParaRPr b="1"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頁面區域：買家/賣家登入、產品列表、訂單、購物車</a:t>
            </a:r>
            <a:endParaRPr sz="6400" b="1" dirty="0">
              <a:solidFill>
                <a:schemeClr val="dk1"/>
              </a:solidFill>
            </a:endParaRPr>
          </a:p>
          <a:p>
            <a:pPr marL="342900" lvl="0" algn="l" rtl="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主要功能 : </a:t>
            </a:r>
            <a:endParaRPr sz="6400" b="1" dirty="0">
              <a:solidFill>
                <a:schemeClr val="dk1"/>
              </a:solidFill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/賣家帳戶註冊&amp;登入,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產品顯示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商品評價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購物車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訂單管理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買家電子錢包儲值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indent="-857250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賣家收款</a:t>
            </a:r>
            <a:r>
              <a:rPr lang="en" altLang="zh-TW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後台管理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報表生成</a:t>
            </a:r>
            <a:r>
              <a:rPr lang="zh-TW" altLang="en-US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與會員管理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24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63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endParaRPr sz="1563" dirty="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	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1700" y="100468"/>
            <a:ext cx="887622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/>
              <a:t>首頁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</p:spPr>
        <p:txBody>
          <a:bodyPr/>
          <a:lstStyle/>
          <a:p>
            <a:pPr lvl="0"/>
            <a:r>
              <a:rPr lang="zh-TW" altLang="en-US" dirty="0">
                <a:solidFill>
                  <a:schemeClr val="tx1"/>
                </a:solidFill>
              </a:rPr>
              <a:t>首頁預設會顯示角色分流</a:t>
            </a:r>
            <a:r>
              <a:rPr lang="zh-TW" altLang="en-US" dirty="0" smtClean="0">
                <a:solidFill>
                  <a:schemeClr val="tx1"/>
                </a:solidFill>
              </a:rPr>
              <a:t>畫面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r>
              <a:rPr lang="zh-TW" altLang="en-US" dirty="0">
                <a:solidFill>
                  <a:schemeClr val="tx1"/>
                </a:solidFill>
              </a:rPr>
              <a:t>點擊</a:t>
            </a:r>
            <a:r>
              <a:rPr lang="zh-TW" altLang="en-US" dirty="0" smtClean="0">
                <a:solidFill>
                  <a:schemeClr val="tx1"/>
                </a:solidFill>
              </a:rPr>
              <a:t>角色後進入登入</a:t>
            </a:r>
            <a:r>
              <a:rPr lang="en-US" altLang="zh-TW" dirty="0" smtClean="0">
                <a:solidFill>
                  <a:schemeClr val="tx1"/>
                </a:solidFill>
              </a:rPr>
              <a:t>/</a:t>
            </a:r>
            <a:r>
              <a:rPr lang="zh-TW" altLang="en-US" dirty="0" smtClean="0">
                <a:solidFill>
                  <a:schemeClr val="tx1"/>
                </a:solidFill>
              </a:rPr>
              <a:t>註冊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zh-TW" altLang="en-US" dirty="0" smtClean="0">
                <a:solidFill>
                  <a:schemeClr val="tx1"/>
                </a:solidFill>
              </a:rPr>
              <a:t>      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選擇</a:t>
            </a:r>
            <a:r>
              <a:rPr lang="zh-TW" altLang="en-US" dirty="0" smtClean="0">
                <a:solidFill>
                  <a:schemeClr val="tx1"/>
                </a:solidFill>
              </a:rPr>
              <a:t>管理員則只有登入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480" y="386818"/>
            <a:ext cx="2853175" cy="208501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09" y="2723324"/>
            <a:ext cx="2506638" cy="22462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264" y="2723323"/>
            <a:ext cx="2621953" cy="224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2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662874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註冊系統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80787" cy="34164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</a:t>
            </a:r>
            <a:r>
              <a:rPr lang="zh-TW" altLang="en-US" dirty="0" smtClean="0">
                <a:solidFill>
                  <a:schemeClr val="tx1"/>
                </a:solidFill>
              </a:rPr>
              <a:t>電子郵件後按下</a:t>
            </a:r>
            <a:r>
              <a:rPr lang="en-US" altLang="zh-TW" dirty="0" smtClean="0">
                <a:solidFill>
                  <a:schemeClr val="tx1"/>
                </a:solidFill>
              </a:rPr>
              <a:t>[</a:t>
            </a:r>
            <a:r>
              <a:rPr lang="zh-TW" altLang="en-US" dirty="0" smtClean="0">
                <a:solidFill>
                  <a:schemeClr val="tx1"/>
                </a:solidFill>
              </a:rPr>
              <a:t>獲取驗證碼</a:t>
            </a:r>
            <a:r>
              <a:rPr lang="en-US" altLang="zh-TW" dirty="0" smtClean="0">
                <a:solidFill>
                  <a:schemeClr val="tx1"/>
                </a:solidFill>
              </a:rPr>
              <a:t>]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 smtClean="0">
                <a:solidFill>
                  <a:schemeClr val="tx1"/>
                </a:solidFill>
              </a:rPr>
              <a:t>驗證碼會傳送到郵箱裡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altLang="zh-TW" dirty="0" smtClean="0">
                <a:solidFill>
                  <a:schemeClr val="tx1"/>
                </a:solidFill>
              </a:rPr>
              <a:t>     (</a:t>
            </a:r>
            <a:r>
              <a:rPr lang="zh-TW" altLang="en-US" dirty="0" smtClean="0">
                <a:solidFill>
                  <a:schemeClr val="tx1"/>
                </a:solidFill>
              </a:rPr>
              <a:t>後端</a:t>
            </a:r>
            <a:r>
              <a:rPr lang="en-US" altLang="zh-TW" dirty="0" smtClean="0">
                <a:solidFill>
                  <a:schemeClr val="tx1"/>
                </a:solidFill>
              </a:rPr>
              <a:t>Console</a:t>
            </a:r>
            <a:r>
              <a:rPr lang="zh-TW" altLang="en-US" dirty="0" smtClean="0">
                <a:solidFill>
                  <a:schemeClr val="tx1"/>
                </a:solidFill>
              </a:rPr>
              <a:t>也能看到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2" y="2397549"/>
            <a:ext cx="3074504" cy="16715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27" y="1240577"/>
            <a:ext cx="2353057" cy="3778393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4780671" y="502795"/>
            <a:ext cx="2954655" cy="94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輸入驗證碼跟基本資料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註冊完成後會跳回首頁</a:t>
            </a:r>
            <a:endParaRPr lang="en-US" altLang="zh-TW" sz="1800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10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2796" y="54086"/>
            <a:ext cx="1503848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重設密碼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60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81558"/>
            <a:ext cx="17357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登入系統</a:t>
            </a:r>
            <a:endParaRPr b="1"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首頁預設會顯示</a:t>
            </a:r>
            <a:r>
              <a:rPr lang="zh-TW" altLang="en-US" dirty="0" smtClean="0">
                <a:solidFill>
                  <a:schemeClr val="tx1"/>
                </a:solidFill>
              </a:rPr>
              <a:t>角色分流</a:t>
            </a:r>
            <a:r>
              <a:rPr lang="en" dirty="0" smtClean="0">
                <a:solidFill>
                  <a:schemeClr val="tx1"/>
                </a:solidFill>
              </a:rPr>
              <a:t>畫面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輸入您的帳號密碼，例如：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帳號</a:t>
            </a:r>
            <a:r>
              <a:rPr lang="en" dirty="0" smtClean="0">
                <a:solidFill>
                  <a:schemeClr val="tx1"/>
                </a:solidFill>
              </a:rPr>
              <a:t>：</a:t>
            </a:r>
            <a:r>
              <a:rPr lang="en-US" dirty="0" smtClean="0">
                <a:solidFill>
                  <a:schemeClr val="tx1"/>
                </a:solidFill>
              </a:rPr>
              <a:t>b1@gmail.com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tx1"/>
                </a:solidFill>
              </a:rPr>
              <a:t>密碼：</a:t>
            </a:r>
            <a:r>
              <a:rPr lang="en-US" dirty="0" smtClean="0">
                <a:solidFill>
                  <a:schemeClr val="tx1"/>
                </a:solidFill>
              </a:rPr>
              <a:t>a1234567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按下</a:t>
            </a:r>
            <a:r>
              <a:rPr lang="en" dirty="0">
                <a:solidFill>
                  <a:schemeClr val="tx1"/>
                </a:solidFill>
              </a:rPr>
              <a:t>「登入」</a:t>
            </a:r>
            <a:r>
              <a:rPr lang="en" dirty="0" smtClean="0">
                <a:solidFill>
                  <a:schemeClr val="tx1"/>
                </a:solidFill>
              </a:rPr>
              <a:t>按鈕後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677" y="445025"/>
            <a:ext cx="2849217" cy="20845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2948608"/>
            <a:ext cx="2465318" cy="2118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瀏覽產品 - </a:t>
            </a:r>
            <a:r>
              <a:rPr lang="en" sz="2800"/>
              <a:t>商城首頁</a:t>
            </a:r>
            <a:endParaRPr sz="380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登入成功後 系統直接進入”商城首頁” 會列出目前可購買的商品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每個商品旁邊有「加入購物車」按鈕，可以將想要的商品放入購物車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管理購物車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點選「購物車」進入購物車畫面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可以看到已經加入的商品清單，包括商品名稱、價格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可以刪除購物車中的商品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底部會顯示總金額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送出訂單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點選結帳按鈕後 會從錢包餘額中扣款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查詢歷史訂單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點選「我的訂單」進入訂單管理畫面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系統會列出目前帳號所有歷史訂單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點擊訂單旁的「查看詳情」按鈕，可以展開該筆訂單內的所有商品內容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1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650" y="0"/>
            <a:ext cx="50846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資料庫模型圖說明 </a:t>
            </a:r>
            <a:r>
              <a:rPr lang="en" sz="2750"/>
              <a:t>- </a:t>
            </a:r>
            <a:r>
              <a:rPr lang="en" sz="2750">
                <a:highlight>
                  <a:schemeClr val="lt1"/>
                </a:highlight>
              </a:rPr>
              <a:t>使用者 &amp; 認證 (User &amp; Auth)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users: 核心使用者表 role 欄位 ('BUYER' / 'SELLER') 用於區分角色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password_reset_tokens: 存放「忘記密碼」時產生的一次性 Token 關聯 user_id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highlight>
                  <a:schemeClr val="lt1"/>
                </a:highlight>
              </a:rPr>
              <a:t>商品 &amp; 分類 (Product &amp; Catalog)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categories: 商品分類表 parent_category_id 欄位（關聯自己）用於實現樹狀分類結構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products: 商品主表 關聯 seller_id (賣家) 和 category_id (分類)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product_ratings: 商品評價表  它不直接關聯 products，而是關聯 order_item_id 以確保只有已購買的買家才能評價。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highlight>
                  <a:schemeClr val="lt1"/>
                </a:highlight>
              </a:rPr>
              <a:t>購物車 &amp; 訂單 (Cart &amp; Order)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orders: 訂單主表 包含 buyer_id 和 seller_id 用於實現「</a:t>
            </a: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多賣家拆單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」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order_items: 訂單項目表 這是訂單成立時的「商品快照」 儲存了當時的 price_per_unit (單價快照) 確保歷史價格不會變動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carts: 購物車主表 每個買家 (user_id) 擁有一個購物車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cart_items: 購物車項目表 存放當前在購物車中的商品 (product_id) 和數量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500">
                <a:highlight>
                  <a:schemeClr val="lt1"/>
                </a:highlight>
              </a:rPr>
              <a:t>金流 &amp; 帳戶 (Wallet &amp; Finance)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wallets: 電子錢包 每個 user_id (無論買家或賣家) 都有一個錢包 (一對一) 用於儲存 balance (餘額)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wallet_transactions: 錢包交易紀錄 wallets 的流水帳 記錄 TOPUP PAYMENT (支付)  WITHDRAWAL (提款) 等所有變動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bank_accounts: 賣家銀行帳戶 user_id (賣家) 用於提款的銀行資料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前端程式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登入功能：驗證用戶輸入的帳號密碼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商品資料展示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加入購物車功能：點擊產品按鈕後，將商品加入購物車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送出訂單功能：計算總金額並送出訂單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買家儲值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6. 買家評論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7. 後台報表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311700" y="49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呼叫流程整理</a:t>
            </a:r>
            <a:endParaRPr/>
          </a:p>
        </p:txBody>
      </p:sp>
      <p:graphicFrame>
        <p:nvGraphicFramePr>
          <p:cNvPr id="151" name="Google Shape;151;p29"/>
          <p:cNvGraphicFramePr/>
          <p:nvPr/>
        </p:nvGraphicFramePr>
        <p:xfrm>
          <a:off x="987175" y="675175"/>
          <a:ext cx="6839100" cy="4115100"/>
        </p:xfrm>
        <a:graphic>
          <a:graphicData uri="http://schemas.openxmlformats.org/drawingml/2006/table">
            <a:tbl>
              <a:tblPr>
                <a:solidFill>
                  <a:srgbClr val="0D1117"/>
                </a:solidFill>
                <a:tableStyleId>{178B2CF1-C75D-4F7E-A100-BD5A6AD9CF12}</a:tableStyleId>
              </a:tblPr>
              <a:tblGrid>
                <a:gridCol w="206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路徑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控制器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目的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/api/auth/**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AuthController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處理所有登入、註冊和 Token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/api/public/**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PublicProductController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公開的商品和評價查詢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/api/profile/me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ProfileController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（需登入）獲取/更新個人資料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/api/wallet/**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WalletController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（需登入）錢包餘額、儲值/提款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/api/cart/**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購物車管理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結帳與訂單查詢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新增/更新評價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/api/seller/account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BankAccountController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收款帳戶管理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查詢收到的訂單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285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前端畫面區塊程式</a:t>
            </a:r>
            <a:endParaRPr/>
          </a:p>
        </p:txBody>
      </p:sp>
      <p:graphicFrame>
        <p:nvGraphicFramePr>
          <p:cNvPr id="157" name="Google Shape;157;p30"/>
          <p:cNvGraphicFramePr/>
          <p:nvPr/>
        </p:nvGraphicFramePr>
        <p:xfrm>
          <a:off x="148875" y="667150"/>
          <a:ext cx="8744550" cy="4541370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區塊名稱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說明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登入區塊 (#login)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使用者輸入帳密(/login.html)，點擊登入按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鈕(/login.js)，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呼叫 AuthController的/api/auth/login</a:t>
                      </a:r>
                      <a:r>
                        <a:rPr lang="en"/>
                        <a:t> 產生JWT Token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(透過JwtUtil.generateToken(user))</a:t>
                      </a:r>
                      <a:r>
                        <a:rPr lang="en"/>
                        <a:t>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然後判斷買家, 賣家, 或登入失敗.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驗證通過後, </a:t>
                      </a:r>
                      <a:r>
                        <a:rPr lang="en"/>
                        <a:t>將Token, Role存入local storage(使用者電腦),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但Token有有效期(設定在application.properties), 所以時間到, Token還是會失效(Server端為主).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後端回傳401表示Token(密碼)錯誤. 如果顯示'登入API錯誤', 表示CORS跨網域失敗.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產品列表 (#products)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點選商城首頁 (/products.html), 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呼叫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api/public/products(ProductController)回傳的資料顯示於頁面</a:t>
                      </a:r>
                      <a:endParaRPr sz="17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購物車 (#cart)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顯示目前購物車內容(/cart.html/js)CartController(/api/cart/)，可刪除商品、送出訂單cart.js</a:t>
                      </a:r>
                      <a:r>
                        <a:rPr lang="en">
                          <a:solidFill>
                            <a:srgbClr val="434343"/>
                          </a:solidFill>
                        </a:rPr>
                        <a:t>（呼叫/api/orders/checkout ）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訂單管理 (#orders)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顯示我的歷史訂單/api/orders.html,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呼叫(/api/orders/me)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42900" y="8475"/>
            <a:ext cx="110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登入功能</a:t>
            </a:r>
            <a:endParaRPr sz="2000"/>
          </a:p>
        </p:txBody>
      </p:sp>
      <p:pic>
        <p:nvPicPr>
          <p:cNvPr id="163" name="Google Shape;163;p31" title="Screenshot from 2025-11-25 01-33-43.png"/>
          <p:cNvPicPr preferRelativeResize="0"/>
          <p:nvPr/>
        </p:nvPicPr>
        <p:blipFill rotWithShape="1">
          <a:blip r:embed="rId3">
            <a:alphaModFix/>
          </a:blip>
          <a:srcRect l="3762" t="1690"/>
          <a:stretch/>
        </p:blipFill>
        <p:spPr>
          <a:xfrm>
            <a:off x="254275" y="413625"/>
            <a:ext cx="8231626" cy="4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7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顯示商品</a:t>
            </a:r>
            <a:endParaRPr/>
          </a:p>
        </p:txBody>
      </p:sp>
      <p:pic>
        <p:nvPicPr>
          <p:cNvPr id="169" name="Google Shape;169;p32" title="Screenshot from 2025-11-25 01-40-38.png"/>
          <p:cNvPicPr preferRelativeResize="0"/>
          <p:nvPr/>
        </p:nvPicPr>
        <p:blipFill rotWithShape="1">
          <a:blip r:embed="rId3">
            <a:alphaModFix/>
          </a:blip>
          <a:srcRect l="4080" t="5855" r="-2398" b="-3932"/>
          <a:stretch/>
        </p:blipFill>
        <p:spPr>
          <a:xfrm>
            <a:off x="138025" y="617500"/>
            <a:ext cx="8065574" cy="45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8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加入購物車</a:t>
            </a:r>
            <a:endParaRPr/>
          </a:p>
        </p:txBody>
      </p:sp>
      <p:pic>
        <p:nvPicPr>
          <p:cNvPr id="175" name="Google Shape;175;p33" title="Screenshot from 2025-11-25 12-43-46.png"/>
          <p:cNvPicPr preferRelativeResize="0"/>
          <p:nvPr/>
        </p:nvPicPr>
        <p:blipFill rotWithShape="1">
          <a:blip r:embed="rId3">
            <a:alphaModFix/>
          </a:blip>
          <a:srcRect l="3353" t="2761"/>
          <a:stretch/>
        </p:blipFill>
        <p:spPr>
          <a:xfrm>
            <a:off x="348700" y="475400"/>
            <a:ext cx="8143877" cy="46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購物車更新</a:t>
            </a:r>
            <a:endParaRPr/>
          </a:p>
        </p:txBody>
      </p:sp>
      <p:pic>
        <p:nvPicPr>
          <p:cNvPr id="181" name="Google Shape;181;p34" title="Screenshot from 2025-11-25 12-52-52.png"/>
          <p:cNvPicPr preferRelativeResize="0"/>
          <p:nvPr/>
        </p:nvPicPr>
        <p:blipFill rotWithShape="1">
          <a:blip r:embed="rId3">
            <a:alphaModFix/>
          </a:blip>
          <a:srcRect l="3353" t="5141"/>
          <a:stretch/>
        </p:blipFill>
        <p:spPr>
          <a:xfrm>
            <a:off x="305125" y="572700"/>
            <a:ext cx="7991299" cy="4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1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handleCheckout（）</a:t>
            </a:r>
            <a:r>
              <a:rPr lang="en" b="1">
                <a:highlight>
                  <a:schemeClr val="lt1"/>
                </a:highlight>
              </a:rPr>
              <a:t>提交訂單功能</a:t>
            </a:r>
            <a:endParaRPr b="1">
              <a:highlight>
                <a:schemeClr val="lt1"/>
              </a:highlight>
            </a:endParaRPr>
          </a:p>
        </p:txBody>
      </p:sp>
      <p:pic>
        <p:nvPicPr>
          <p:cNvPr id="187" name="Google Shape;187;p35" title="Screenshot from 2025-11-25 13-52-58.png"/>
          <p:cNvPicPr preferRelativeResize="0"/>
          <p:nvPr/>
        </p:nvPicPr>
        <p:blipFill rotWithShape="1">
          <a:blip r:embed="rId3">
            <a:alphaModFix/>
          </a:blip>
          <a:srcRect l="2872" t="13659" r="54883" b="11411"/>
          <a:stretch/>
        </p:blipFill>
        <p:spPr>
          <a:xfrm>
            <a:off x="4450376" y="515825"/>
            <a:ext cx="4528973" cy="451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77500" y="572700"/>
            <a:ext cx="41625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購物車結帳流程（handleCheckout）：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功能：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1.確認購物車是否有商品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2.檢查錢包餘額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3.將獲得的購物車內容 POST 請求至後端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邏輯：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用Token的方式取得購物車資料。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取得購物車內容並讀取 totalPrice。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假如錢包餘額不足，顯示錯誤並提示儲值，流程中止。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若餘額足夠，停用結帳與清空按鈕。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呼叫後端 建立訂單。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若成功：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顯示成功訊息，包含訂單張數。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延遲 1 秒更新錢包與購物車資料。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若失敗：顯示錯誤訊息（後端 message 或預設提示）。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不論成功失敗，最後都會重新啟用按鈕。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0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renderCart </a:t>
            </a:r>
            <a:r>
              <a:rPr lang="en">
                <a:highlight>
                  <a:schemeClr val="lt1"/>
                </a:highlight>
              </a:rPr>
              <a:t>顯示訂單清單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94" name="Google Shape;194;p36" title="Screenshot from 2025-11-25 14-52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572700"/>
            <a:ext cx="4571999" cy="450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0" y="572700"/>
            <a:ext cx="4184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1.Token獲取後端購物車內容(cart.js, fetchMyCart())，檢查購物有沒有商品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2.renderCart() 建立顯示畫面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fetchOrderDetails(orderId) - 顯示特定訂單詳細資料</a:t>
            </a:r>
            <a:endParaRPr/>
          </a:p>
        </p:txBody>
      </p:sp>
      <p:pic>
        <p:nvPicPr>
          <p:cNvPr id="201" name="Google Shape;201;p37" title="Screenshot from 2025-11-25 15-17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67" y="1017725"/>
            <a:ext cx="4270734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/>
        </p:nvSpPr>
        <p:spPr>
          <a:xfrm>
            <a:off x="387600" y="1017725"/>
            <a:ext cx="4184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功能：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1.顯示特定訂單內容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2.呼叫 renderOrderDetails(order) 來繪製顯示畫面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後端架構概述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 Spring Boot 框架建構 RESTful API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模型層 (Model) ：定義資料結構 (JAP PO -&gt; VO)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控制層 (Controller) ：處理前端請求(controller-&gt;service-&gt;DAO 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資料存取層 (DAO) ：連接資料庫 (JPA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使用 JWT 驗證用戶身份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資料庫：儲存使用者, 商品, 訂單明細, 電子錢包, 銀行餘額, 購物車資料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驗證與帳號 - JwtUtil 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2064800" y="1075325"/>
            <a:ext cx="2696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 JWT : (右圖)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generateToken()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建立或是獲取資訊提供JWT產生字串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&lt;加入額外資訊: role, user id&gt;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產生JWT字串: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createToken()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有效期: application.properties裡設定</a:t>
            </a:r>
            <a:endParaRPr sz="1200">
              <a:solidFill>
                <a:schemeClr val="dk2"/>
              </a:solidFill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jwt.expiration.ms=86400000 //24小時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5" name="Google Shape;215;p39" title="Screenshot from 2025-11-25 17-14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900" y="445025"/>
            <a:ext cx="428631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9" title="Screenshot from 2025-11-25 17-31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61025"/>
            <a:ext cx="4127400" cy="2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/>
        </p:nvSpPr>
        <p:spPr>
          <a:xfrm>
            <a:off x="0" y="2506925"/>
            <a:ext cx="135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驗證JWT : (下圖)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isTokenValid()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AuthController</a:t>
            </a:r>
            <a:r>
              <a:rPr lang="en" sz="2500">
                <a:highlight>
                  <a:schemeClr val="lt1"/>
                </a:highlight>
              </a:rPr>
              <a:t> </a:t>
            </a:r>
            <a:r>
              <a:rPr lang="en" sz="2500"/>
              <a:t>功能簡介</a:t>
            </a:r>
            <a:endParaRPr sz="2500"/>
          </a:p>
        </p:txBody>
      </p:sp>
      <p:sp>
        <p:nvSpPr>
          <p:cNvPr id="223" name="Google Shape;223;p40"/>
          <p:cNvSpPr txBox="1"/>
          <p:nvPr/>
        </p:nvSpPr>
        <p:spPr>
          <a:xfrm>
            <a:off x="311700" y="1017725"/>
            <a:ext cx="8721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@ResController, @RequestMapping("/api/auth") 定義REST API端點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@Autowired: 注入UserService, JwtUtil, UserDAO, PasswordEncoder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使用jwtUtil.generateToken(user): 當使用者登入後, 系統會產生帳號名稱(email), 角色(買家或賣家), User ID, 簽發時間, 有效期限的JWT Token.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HS256演算法進行加密簽章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登入驗證API - AuthController</a:t>
            </a:r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("/login")	// "/api/auth/login"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login(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@Valid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@RequestBody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LoginRequestVO requestVO)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1. 呼叫 Service 驗證帳號密碼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UserPO user = userService.login(requestVO);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2. 產生 JWT Token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String token = jwtUtil.generateToken(user);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3. 回傳包含 token + adminCode 的資訊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new AuthResponseVO(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"登入成功",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user.getUserId(),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user.getName(),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user.getEmail(),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user.getRole(),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token,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user.getAdminCode() // 一般使用者通常是 null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)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 catch (Exception e)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HttpStatus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UNAUTHORIZED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).body(e.getMessage());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>
            <a:spLocks noGrp="1"/>
          </p:cNvSpPr>
          <p:nvPr>
            <p:ph type="title"/>
          </p:nvPr>
        </p:nvSpPr>
        <p:spPr>
          <a:xfrm>
            <a:off x="311700" y="30925"/>
            <a:ext cx="276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實體類別</a:t>
            </a:r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body" idx="1"/>
          </p:nvPr>
        </p:nvSpPr>
        <p:spPr>
          <a:xfrm>
            <a:off x="311700" y="603625"/>
            <a:ext cx="2907300" cy="1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/**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 PO (Entity) - 對應 `products` 商品資料表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*/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@Entity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@Table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(name = "products")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@Data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@NoArgsConstructor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public class ProductPO {</a:t>
            </a:r>
            <a:endParaRPr/>
          </a:p>
        </p:txBody>
      </p:sp>
      <p:graphicFrame>
        <p:nvGraphicFramePr>
          <p:cNvPr id="236" name="Google Shape;236;p42"/>
          <p:cNvGraphicFramePr/>
          <p:nvPr/>
        </p:nvGraphicFramePr>
        <p:xfrm>
          <a:off x="3218975" y="154513"/>
          <a:ext cx="5833725" cy="4834475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19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欄位名稱（Database）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說明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備註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商品主鍵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PK(Primary Key)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關聯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FK(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Foreign Key 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category_id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商品分類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"電子產品", "食品" 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商品名稱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description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商品敘述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TEXT（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約能儲存 16,383 個中文字元</a:t>
                      </a:r>
                      <a:r>
                        <a:rPr lang="en" sz="900"/>
                        <a:t>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price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商品價格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最多可儲存 10 位數字，其中有 2 位是小數位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stock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庫存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integer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image_url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照片連結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建立時間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updated_at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更新時間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ProductController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@ResController, @RequestMapping("/api/products") 定義REST API端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@Autowired: 注入 </a:t>
            </a: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ProductService (只有seller可以訪問), JPA Repository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 MySQL 資料庫，儲存產品資料 (products 表)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實體類別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@Table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"orders")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(關鍵) 絕對不要用 @Data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@Setter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@NoArgsConstructor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@ToString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@EqualsAndHashCode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OrderPO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@Id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@GeneratedValue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IDENTITY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"order_id")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Long orderId;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9" name="Google Shape;249;p44" title="Screenshot from 2025-11-25 20-43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37525"/>
            <a:ext cx="8839200" cy="1717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多筆訂單「屬於」一個買家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"buyer_id",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buyer;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多筆訂單「屬於」一個賣家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"seller_id",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seller;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@OneToMany: 一筆訂單「擁有多個」訂單項目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mappedBy = "order"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cascade = CascadeType.ALL (當儲存 OrderPO 時，自動儲存所有 items)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cascade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CascadeType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56" name="Google Shape;256;p45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("/checkout")	// /api/orders/checkout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checkoutFromMyCart()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(Service 會回傳「此次」建立的所有新訂單)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List&lt;OrderResponseVO&gt; newOrders = orderService.checkoutFromMyCart();</a:t>
            </a:r>
            <a:endParaRPr sz="2000"/>
          </a:p>
        </p:txBody>
      </p:sp>
      <p:sp>
        <p:nvSpPr>
          <p:cNvPr id="257" name="Google Shape;257;p45"/>
          <p:cNvSpPr txBox="1"/>
          <p:nvPr/>
        </p:nvSpPr>
        <p:spPr>
          <a:xfrm>
            <a:off x="311700" y="1727100"/>
            <a:ext cx="63765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流程說明：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此 API 不需要 Request Body，它會自動從 Token 抓取買家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從 Token 中解析出「使用者名稱 (Email)」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JwtUtil.java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public String extractUsername(String token) {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return extractClaim(token, Claims::getSubject);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儲存「訂單」, (因為 cascade = ALL, 這會「同時」儲存所有 OrderItemPO)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savedOrder = orderDAO.save(newOrder);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為了不要有recursion造成stackoverflow(不斷循環查詢造成記憶體爆掉), 要設定成"LAZY"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(JAP entity) : 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cascade = CascadeType.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fetch = FetchType.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63" name="Google Shape;263;p46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查詢全部訂單（管理員用）：施工中...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2050" y="197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查詢單筆訂單（含明細）：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79930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98089" y="1543943"/>
            <a:ext cx="314782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綠界第三方支付整合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79974" y="2142083"/>
            <a:ext cx="49840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 Payment Gateway Integration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03295" y="3294608"/>
            <a:ext cx="2137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完整的在線支付解決方案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642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0497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結帳頁面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買家點擊「立即結帳」按鈕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3166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訂單建立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系統計算購物車金額與商品明細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5835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參數準備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產生綠界所需參數 + SHA-256 簽章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98504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自動跳轉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送出自動提交的 HTML 表單到綠界頁面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41173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支付完成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用戶選擇付款方式（信用卡、超商、ATM）並完成付款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83842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回調通知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綠界回傳 /notify，系統驗證並自動建立訂單紀錄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87369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80098"/>
            <a:ext cx="7924800" cy="114106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後端主要模組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ECPayController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@GetMapping("/createOrder")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取得購物車商品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計算訂單總價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產生支付表單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 NotifyController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@PostMapping("/notify")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接收付款結果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驗證簽章安全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觸發訂單建立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84898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ECPayUtil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42073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簽章產生與驗證工具 - SHA-256 加密、參數排序、URL 編碼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912316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14106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7405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577405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簽章安全機制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CheckMacValue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1845915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所有交易參數使用 SHA-256 檢查碼，確保資料完整性與防竄改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882205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簽章產生步驟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3139380"/>
            <a:ext cx="2895600" cy="2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過濾空值參數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參數依名稱排序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組合字串 (HashKey &amp; 參數 &amp; HashIV)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URL Encode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SHA-256 加密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9200" y="2882205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驗證過程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0" y="3139380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接收綠界回傳的 CheckMacValue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使用相同演算法重新計算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比對兩個簽章是否相等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成功則建立訂單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4164725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編碼與兼容性處理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關鍵設定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1845915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request.setCharacterEncoding("UTF-8")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強制設定回調請求編碼，避免中文或特殊符號驗證失敗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UTF-8 編碼需求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中文字符正確識別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特殊符號完整保留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CheckMacValue 簽章不失敗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訂單備註與商品名稱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92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🎫 CustomField1 機制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傳遞使用者 ID 到綠界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回調時綠界帶回此值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用以正確對應訂單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安全識別購買者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827013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1724"/>
            <a:ext cx="7781925" cy="347439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程式碼範例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訂單建立與表單產生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@GetMapping("/createOrder")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createOrder() throws Exception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UserPO buyer = authHelperService.getCurrentAuthenticatedBuyer();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 cart = cartDAO.findByUser_UserId(buyer.getUserId()).orElseThrow(...);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 totalAmount = calculateCartTotal(cart);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32035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checkMacValue = ECPayUtil.genCheckMacValue(params, hashKey, hashIV);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返回自動提交表單...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05699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1724"/>
            <a:ext cx="7781925" cy="347439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回調通知處理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綠界 Notify 回調 API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@PostMapping("/notify")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receiveNotify(HttpServletRequest request)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request.setCharacterEncoding("UTF-8"); </a:t>
            </a: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編碼設定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params = parseRequest(request);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77177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isValid = ECPayUtil.checkMacValue(params, hashKey, hashIV);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(isValid &amp;&amp; "1".equals(params.get("RtnCode"))) {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320355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orderService.processEcpayCheckout(userId, amount, tradeNo);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594646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"1|OK";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83998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80098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安全最佳實踐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每筆交易必須驗證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SHA-256 加密算法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參數完整性檢查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防止資料竄改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資訊安全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HTTPS 加密傳輸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敏感資訊保護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API Key 機密管理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日誌記錄與審計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84898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開發提示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42073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測試環境中，如遇編碼不一致且交易成功 (RtnCode=1)，可暫時允許略過簽章驗證以便除錯。生產環境必須啟用嚴格驗證。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39842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系統整體架構流程圖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32747" y="1283940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用戶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532747" y="1558230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32747" y="2045791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前端（購物車頁面）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32747" y="2320082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32747" y="2807643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後端 Spring Boot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32747" y="3081933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32747" y="3569494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💳 綠界支付網關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32747" y="3843784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2747" y="4331345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訂單建立與紀錄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87220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專案技術亮點與成果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核心亮點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完整的多賣家拆單系統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安全認證與權限管理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支付簽章機制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設計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成果展示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支援多支付方式整合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高效的資料庫查詢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前後端完整分離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生產環境可部署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819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50983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2726" y="1254472"/>
            <a:ext cx="2098548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感謝您的聆聽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58216" y="1852612"/>
            <a:ext cx="14274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15091" y="3005138"/>
            <a:ext cx="31138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全端電商平台 - 完整系統整合成功！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86975" y="3614738"/>
            <a:ext cx="25699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Eric, Vincent, Stone, Barry, Alex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9944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1939</Words>
  <Application>Microsoft Office PowerPoint</Application>
  <PresentationFormat>如螢幕大小 (16:9)</PresentationFormat>
  <Paragraphs>498</Paragraphs>
  <Slides>48</Slides>
  <Notes>45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48</vt:i4>
      </vt:variant>
    </vt:vector>
  </HeadingPairs>
  <TitlesOfParts>
    <vt:vector size="55" baseType="lpstr">
      <vt:lpstr>Microsoft YaHei</vt:lpstr>
      <vt:lpstr>Arial</vt:lpstr>
      <vt:lpstr>Calibri</vt:lpstr>
      <vt:lpstr>Courier New</vt:lpstr>
      <vt:lpstr>Wingdings</vt:lpstr>
      <vt:lpstr>Simple Light</vt:lpstr>
      <vt:lpstr>Office Theme</vt:lpstr>
      <vt:lpstr>專案名稱: 全端電商平台</vt:lpstr>
      <vt:lpstr>大綱</vt:lpstr>
      <vt:lpstr>專案介紹</vt:lpstr>
      <vt:lpstr>使用案例（Use Case）</vt:lpstr>
      <vt:lpstr>系統功能說明</vt:lpstr>
      <vt:lpstr>首頁</vt:lpstr>
      <vt:lpstr>註冊系統</vt:lpstr>
      <vt:lpstr>重設密碼</vt:lpstr>
      <vt:lpstr>登入系統</vt:lpstr>
      <vt:lpstr>瀏覽產品 - 商城首頁</vt:lpstr>
      <vt:lpstr>管理購物車</vt:lpstr>
      <vt:lpstr>送出訂單</vt:lpstr>
      <vt:lpstr>查詢歷史訂單</vt:lpstr>
      <vt:lpstr>資料庫模型圖</vt:lpstr>
      <vt:lpstr>資料庫模型圖說明 - 使用者 &amp; 認證 (User &amp; Auth) </vt:lpstr>
      <vt:lpstr>商品 &amp; 分類 (Product &amp; Catalog)</vt:lpstr>
      <vt:lpstr>購物車 &amp; 訂單 (Cart &amp; Order) </vt:lpstr>
      <vt:lpstr>金流 &amp; 帳戶 (Wallet &amp; Finance)</vt:lpstr>
      <vt:lpstr>前端程式</vt:lpstr>
      <vt:lpstr>API 呼叫流程整理</vt:lpstr>
      <vt:lpstr>前端畫面區塊程式</vt:lpstr>
      <vt:lpstr>登入功能</vt:lpstr>
      <vt:lpstr>顯示商品</vt:lpstr>
      <vt:lpstr>加入購物車</vt:lpstr>
      <vt:lpstr>購物車更新</vt:lpstr>
      <vt:lpstr>handleCheckout（）提交訂單功能</vt:lpstr>
      <vt:lpstr>renderCart 顯示訂單清單</vt:lpstr>
      <vt:lpstr>fetchOrderDetails(orderId) - 顯示特定訂單詳細資料</vt:lpstr>
      <vt:lpstr>後端架構概述</vt:lpstr>
      <vt:lpstr>JWT 驗證與帳號 - JwtUtil </vt:lpstr>
      <vt:lpstr>AuthController 功能簡介</vt:lpstr>
      <vt:lpstr>登入驗證API - AuthController</vt:lpstr>
      <vt:lpstr>Product 實體類別</vt:lpstr>
      <vt:lpstr>ProductController</vt:lpstr>
      <vt:lpstr>Order 實體類別</vt:lpstr>
      <vt:lpstr>OrderController功能簡介</vt:lpstr>
      <vt:lpstr>OrderController功能簡介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專案名稱: 全端電商平台</dc:title>
  <cp:lastModifiedBy>student</cp:lastModifiedBy>
  <cp:revision>7</cp:revision>
  <dcterms:modified xsi:type="dcterms:W3CDTF">2025-11-26T05:56:20Z</dcterms:modified>
</cp:coreProperties>
</file>