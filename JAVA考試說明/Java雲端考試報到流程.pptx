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29"/>
  </p:notesMasterIdLst>
  <p:sldIdLst>
    <p:sldId id="384" r:id="rId2"/>
    <p:sldId id="462" r:id="rId3"/>
    <p:sldId id="466" r:id="rId4"/>
    <p:sldId id="469" r:id="rId5"/>
    <p:sldId id="470" r:id="rId6"/>
    <p:sldId id="468" r:id="rId7"/>
    <p:sldId id="471" r:id="rId8"/>
    <p:sldId id="473" r:id="rId9"/>
    <p:sldId id="465" r:id="rId10"/>
    <p:sldId id="477" r:id="rId11"/>
    <p:sldId id="467" r:id="rId12"/>
    <p:sldId id="482" r:id="rId13"/>
    <p:sldId id="480" r:id="rId14"/>
    <p:sldId id="479" r:id="rId15"/>
    <p:sldId id="478" r:id="rId16"/>
    <p:sldId id="476" r:id="rId17"/>
    <p:sldId id="475" r:id="rId18"/>
    <p:sldId id="484" r:id="rId19"/>
    <p:sldId id="485" r:id="rId20"/>
    <p:sldId id="474" r:id="rId21"/>
    <p:sldId id="487" r:id="rId22"/>
    <p:sldId id="486" r:id="rId23"/>
    <p:sldId id="488" r:id="rId24"/>
    <p:sldId id="483" r:id="rId25"/>
    <p:sldId id="481" r:id="rId26"/>
    <p:sldId id="489" r:id="rId27"/>
    <p:sldId id="383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1EE"/>
    <a:srgbClr val="8E8E8E"/>
    <a:srgbClr val="323232"/>
    <a:srgbClr val="130507"/>
    <a:srgbClr val="ED6C00"/>
    <a:srgbClr val="5D379D"/>
    <a:srgbClr val="FBDCB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42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2E9F4-56C2-4780-9CF3-955A5969E15E}" type="datetimeFigureOut">
              <a:rPr lang="zh-TW" altLang="en-US" smtClean="0"/>
              <a:pPr/>
              <a:t>2023/2/22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2AC61-28E2-4F3E-8B14-6A8E064347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094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anice.li\Desktop\新版簡報_2022紅.files\slide0022_image00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0413" cy="6858000"/>
          </a:xfrm>
          <a:prstGeom prst="rect">
            <a:avLst/>
          </a:prstGeom>
          <a:noFill/>
        </p:spPr>
      </p:pic>
      <p:sp>
        <p:nvSpPr>
          <p:cNvPr id="12" name="副標題 4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005835" y="2880236"/>
            <a:ext cx="4663409" cy="519667"/>
          </a:xfrm>
        </p:spPr>
        <p:txBody>
          <a:bodyPr>
            <a:normAutofit/>
          </a:bodyPr>
          <a:lstStyle>
            <a:lvl1pPr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 algn="l"/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日期</a:t>
            </a:r>
            <a:endParaRPr lang="zh-TW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文字版面配置區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05835" y="4712560"/>
            <a:ext cx="2586123" cy="452566"/>
          </a:xfrm>
        </p:spPr>
        <p:txBody>
          <a:bodyPr>
            <a:normAutofit/>
          </a:bodyPr>
          <a:lstStyle>
            <a:lvl1pPr>
              <a:buNone/>
              <a:defRPr sz="2000" b="1">
                <a:latin typeface="+mj-ea"/>
                <a:ea typeface="+mj-ea"/>
              </a:defRPr>
            </a:lvl1pPr>
          </a:lstStyle>
          <a:p>
            <a:pPr lvl="0"/>
            <a:r>
              <a:rPr lang="en-US" altLang="zh-TW" dirty="0" smtClean="0"/>
              <a:t>XX</a:t>
            </a:r>
            <a:r>
              <a:rPr lang="zh-TW" altLang="en-US" dirty="0" smtClean="0"/>
              <a:t>處報告人：</a:t>
            </a:r>
            <a:r>
              <a:rPr lang="en-US" altLang="zh-TW" dirty="0" smtClean="0"/>
              <a:t>XXX</a:t>
            </a:r>
            <a:endParaRPr lang="zh-TW" altLang="en-US" dirty="0"/>
          </a:p>
        </p:txBody>
      </p:sp>
      <p:sp>
        <p:nvSpPr>
          <p:cNvPr id="21" name="文字版面配置區 20"/>
          <p:cNvSpPr>
            <a:spLocks noGrp="1"/>
          </p:cNvSpPr>
          <p:nvPr>
            <p:ph type="body" sz="quarter" idx="11" hasCustomPrompt="1"/>
          </p:nvPr>
        </p:nvSpPr>
        <p:spPr>
          <a:xfrm>
            <a:off x="4005835" y="1976996"/>
            <a:ext cx="5948363" cy="839788"/>
          </a:xfrm>
        </p:spPr>
        <p:txBody>
          <a:bodyPr/>
          <a:lstStyle>
            <a:lvl1pPr>
              <a:buNone/>
              <a:defRPr sz="5800" b="1">
                <a:latin typeface="+mj-ea"/>
                <a:ea typeface="+mj-ea"/>
              </a:defRPr>
            </a:lvl1pPr>
          </a:lstStyle>
          <a:p>
            <a:pPr lvl="0"/>
            <a:r>
              <a:rPr lang="zh-TW" altLang="en-US" dirty="0" smtClean="0"/>
              <a:t>投影片標題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janice.li\Desktop\新版簡報_2022紅.files\slide0126_image00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0413" cy="6858000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2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12801" y="1600204"/>
            <a:ext cx="5027826" cy="4525963"/>
          </a:xfrm>
        </p:spPr>
        <p:txBody>
          <a:bodyPr/>
          <a:lstStyle>
            <a:lvl1pPr>
              <a:defRPr sz="2800">
                <a:latin typeface="微軟正黑體" pitchFamily="34" charset="-120"/>
                <a:ea typeface="微軟正黑體" pitchFamily="34" charset="-120"/>
              </a:defRPr>
            </a:lvl1pPr>
            <a:lvl2pPr>
              <a:defRPr sz="2400">
                <a:latin typeface="微軟正黑體" pitchFamily="34" charset="-120"/>
                <a:ea typeface="微軟正黑體" pitchFamily="34" charset="-120"/>
              </a:defRPr>
            </a:lvl2pPr>
            <a:lvl3pPr>
              <a:defRPr sz="2000">
                <a:latin typeface="微軟正黑體" pitchFamily="34" charset="-120"/>
                <a:ea typeface="微軟正黑體" pitchFamily="34" charset="-120"/>
              </a:defRPr>
            </a:lvl3pPr>
            <a:lvl4pPr>
              <a:defRPr sz="1800">
                <a:latin typeface="微軟正黑體" pitchFamily="34" charset="-120"/>
                <a:ea typeface="微軟正黑體" pitchFamily="34" charset="-120"/>
              </a:defRPr>
            </a:lvl4pPr>
            <a:lvl5pPr>
              <a:defRPr sz="1800">
                <a:latin typeface="微軟正黑體" pitchFamily="34" charset="-120"/>
                <a:ea typeface="微軟正黑體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sz="half" idx="13"/>
          </p:nvPr>
        </p:nvSpPr>
        <p:spPr>
          <a:xfrm>
            <a:off x="6179752" y="1600204"/>
            <a:ext cx="5027826" cy="4525963"/>
          </a:xfrm>
        </p:spPr>
        <p:txBody>
          <a:bodyPr/>
          <a:lstStyle>
            <a:lvl1pPr>
              <a:defRPr sz="2800">
                <a:latin typeface="微軟正黑體" pitchFamily="34" charset="-120"/>
                <a:ea typeface="微軟正黑體" pitchFamily="34" charset="-120"/>
              </a:defRPr>
            </a:lvl1pPr>
            <a:lvl2pPr>
              <a:defRPr sz="2400">
                <a:latin typeface="微軟正黑體" pitchFamily="34" charset="-120"/>
                <a:ea typeface="微軟正黑體" pitchFamily="34" charset="-120"/>
              </a:defRPr>
            </a:lvl2pPr>
            <a:lvl3pPr>
              <a:defRPr sz="2000">
                <a:latin typeface="微軟正黑體" pitchFamily="34" charset="-120"/>
                <a:ea typeface="微軟正黑體" pitchFamily="34" charset="-120"/>
              </a:defRPr>
            </a:lvl3pPr>
            <a:lvl4pPr>
              <a:defRPr sz="1800">
                <a:latin typeface="微軟正黑體" pitchFamily="34" charset="-120"/>
                <a:ea typeface="微軟正黑體" pitchFamily="34" charset="-120"/>
              </a:defRPr>
            </a:lvl4pPr>
            <a:lvl5pPr>
              <a:defRPr sz="1800">
                <a:latin typeface="微軟正黑體" pitchFamily="34" charset="-120"/>
                <a:ea typeface="微軟正黑體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anice.li\Desktop\新版簡報_2022紅.files\slide0126_image00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0413" cy="6858000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微軟正黑體" pitchFamily="34" charset="-120"/>
                <a:ea typeface="微軟正黑體" pitchFamily="34" charset="-120"/>
              </a:defRPr>
            </a:lvl1pPr>
            <a:lvl2pPr>
              <a:defRPr sz="2000">
                <a:latin typeface="微軟正黑體" pitchFamily="34" charset="-120"/>
                <a:ea typeface="微軟正黑體" pitchFamily="34" charset="-120"/>
              </a:defRPr>
            </a:lvl2pPr>
            <a:lvl3pPr>
              <a:defRPr sz="1800">
                <a:latin typeface="微軟正黑體" pitchFamily="34" charset="-120"/>
                <a:ea typeface="微軟正黑體" pitchFamily="34" charset="-120"/>
              </a:defRPr>
            </a:lvl3pPr>
            <a:lvl4pPr>
              <a:defRPr sz="1600">
                <a:latin typeface="微軟正黑體" pitchFamily="34" charset="-120"/>
                <a:ea typeface="微軟正黑體" pitchFamily="34" charset="-120"/>
              </a:defRPr>
            </a:lvl4pPr>
            <a:lvl5pPr>
              <a:defRPr sz="1600">
                <a:latin typeface="微軟正黑體" pitchFamily="34" charset="-120"/>
                <a:ea typeface="微軟正黑體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81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81" y="2174875"/>
            <a:ext cx="5389033" cy="3951288"/>
          </a:xfrm>
        </p:spPr>
        <p:txBody>
          <a:bodyPr/>
          <a:lstStyle>
            <a:lvl1pPr>
              <a:defRPr sz="2400">
                <a:latin typeface="微軟正黑體" pitchFamily="34" charset="-120"/>
                <a:ea typeface="微軟正黑體" pitchFamily="34" charset="-120"/>
              </a:defRPr>
            </a:lvl1pPr>
            <a:lvl2pPr>
              <a:defRPr sz="2000">
                <a:latin typeface="微軟正黑體" pitchFamily="34" charset="-120"/>
                <a:ea typeface="微軟正黑體" pitchFamily="34" charset="-120"/>
              </a:defRPr>
            </a:lvl2pPr>
            <a:lvl3pPr>
              <a:defRPr sz="1800">
                <a:latin typeface="微軟正黑體" pitchFamily="34" charset="-120"/>
                <a:ea typeface="微軟正黑體" pitchFamily="34" charset="-120"/>
              </a:defRPr>
            </a:lvl3pPr>
            <a:lvl4pPr>
              <a:defRPr sz="1600">
                <a:latin typeface="微軟正黑體" pitchFamily="34" charset="-120"/>
                <a:ea typeface="微軟正黑體" pitchFamily="34" charset="-120"/>
              </a:defRPr>
            </a:lvl4pPr>
            <a:lvl5pPr>
              <a:defRPr sz="1600">
                <a:latin typeface="微軟正黑體" pitchFamily="34" charset="-120"/>
                <a:ea typeface="微軟正黑體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>
                <a:latin typeface="微軟正黑體" pitchFamily="34" charset="-120"/>
                <a:ea typeface="微軟正黑體" pitchFamily="34" charset="-120"/>
              </a:defRPr>
            </a:lvl1pPr>
            <a:lvl2pPr>
              <a:defRPr sz="2800">
                <a:latin typeface="微軟正黑體" pitchFamily="34" charset="-120"/>
                <a:ea typeface="微軟正黑體" pitchFamily="34" charset="-120"/>
              </a:defRPr>
            </a:lvl2pPr>
            <a:lvl3pPr>
              <a:defRPr sz="2400">
                <a:latin typeface="微軟正黑體" pitchFamily="34" charset="-120"/>
                <a:ea typeface="微軟正黑體" pitchFamily="34" charset="-120"/>
              </a:defRPr>
            </a:lvl3pPr>
            <a:lvl4pPr>
              <a:defRPr sz="2000">
                <a:latin typeface="微軟正黑體" pitchFamily="34" charset="-120"/>
                <a:ea typeface="微軟正黑體" pitchFamily="34" charset="-120"/>
              </a:defRPr>
            </a:lvl4pPr>
            <a:lvl5pPr>
              <a:defRPr sz="2000">
                <a:latin typeface="微軟正黑體" pitchFamily="34" charset="-120"/>
                <a:ea typeface="微軟正黑體" pitchFamily="34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janice.li\Desktop\新版簡報_2022紅.files\slide0126_image00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7" y="0"/>
            <a:ext cx="12190413" cy="6858000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janice.li\Desktop\新版簡報_2022紅.files\slide0126_image00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0413" cy="6858000"/>
          </a:xfrm>
          <a:prstGeom prst="rect">
            <a:avLst/>
          </a:prstGeom>
          <a:noFill/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1785600" y="274639"/>
            <a:ext cx="36576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274639"/>
            <a:ext cx="10769600" cy="5851525"/>
          </a:xfrm>
        </p:spPr>
        <p:txBody>
          <a:bodyPr vert="eaVert"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janice.li\Desktop\新版簡報_2022紅.files\slide0006_image004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0413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7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8B082-C13C-414D-8A0F-0B223C2F2010}" type="datetimeFigureOut">
              <a:rPr lang="zh-TW" altLang="en-US" smtClean="0"/>
              <a:pPr/>
              <a:t>2023/2/22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7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7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165CD-9C49-47A4-9D52-C879B9F1DC7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218" name="Picture 2" descr="C:\Users\janice.li\Desktop\新版簡報_2022紅.files\slide0126_image003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587" y="0"/>
            <a:ext cx="12190413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041004" y="4633542"/>
            <a:ext cx="7116433" cy="637088"/>
          </a:xfrm>
        </p:spPr>
        <p:txBody>
          <a:bodyPr anchor="ctr">
            <a:normAutofit/>
          </a:bodyPr>
          <a:lstStyle/>
          <a:p>
            <a:r>
              <a:rPr lang="zh-TW" altLang="en-US" dirty="0" smtClean="0"/>
              <a:t>資訊行銷課研部  賴柏融   </a:t>
            </a:r>
            <a:r>
              <a:rPr lang="en-US" altLang="zh-TW" b="0" dirty="0" smtClean="0">
                <a:solidFill>
                  <a:schemeClr val="bg1">
                    <a:lumMod val="50000"/>
                  </a:schemeClr>
                </a:solidFill>
              </a:rPr>
              <a:t>2023/02/21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4005835" y="1976996"/>
            <a:ext cx="6754314" cy="840632"/>
          </a:xfrm>
        </p:spPr>
        <p:txBody>
          <a:bodyPr>
            <a:normAutofit/>
          </a:bodyPr>
          <a:lstStyle/>
          <a:p>
            <a:r>
              <a:rPr lang="en-US" altLang="zh-TW" sz="4800" dirty="0" smtClean="0"/>
              <a:t>Java</a:t>
            </a:r>
            <a:r>
              <a:rPr lang="zh-TW" altLang="en-US" sz="4800" dirty="0" smtClean="0"/>
              <a:t>雲端考試前流程</a:t>
            </a:r>
            <a:endParaRPr lang="zh-TW" alt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此</a:t>
            </a:r>
            <a:r>
              <a:rPr lang="zh-TW" altLang="en-US" sz="1400" dirty="0" smtClean="0"/>
              <a:t>例以</a:t>
            </a:r>
            <a:r>
              <a:rPr lang="en-US" altLang="zh-TW" sz="1400" dirty="0" smtClean="0"/>
              <a:t>900</a:t>
            </a:r>
            <a:r>
              <a:rPr lang="zh-TW" altLang="en-US" sz="1400" dirty="0" smtClean="0"/>
              <a:t>系列說明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當登入準備考試時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1</a:t>
            </a:r>
            <a:r>
              <a:rPr lang="en-US" altLang="zh-TW" sz="1400" dirty="0" smtClean="0"/>
              <a:t>.</a:t>
            </a:r>
            <a:r>
              <a:rPr lang="zh-TW" altLang="en-US" sz="1400" dirty="0" smtClean="0"/>
              <a:t>畫面標示</a:t>
            </a:r>
            <a:r>
              <a:rPr lang="en-US" altLang="zh-TW" sz="1400" dirty="0" smtClean="0"/>
              <a:t>)Step 1.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第一</a:t>
            </a:r>
            <a:r>
              <a:rPr lang="zh-TW" altLang="en-US" sz="1400" dirty="0" smtClean="0"/>
              <a:t>步要安裝</a:t>
            </a:r>
            <a:r>
              <a:rPr lang="en-US" altLang="zh-TW" sz="1400" dirty="0" smtClean="0"/>
              <a:t>Oracle </a:t>
            </a:r>
            <a:r>
              <a:rPr lang="zh-TW" altLang="en-US" sz="1400" dirty="0" smtClean="0"/>
              <a:t>所要求的</a:t>
            </a:r>
            <a:r>
              <a:rPr lang="zh-TW" altLang="en-US" sz="1400" dirty="0" smtClean="0"/>
              <a:t>瀏覽器。即使</a:t>
            </a:r>
            <a:r>
              <a:rPr lang="zh-TW" altLang="en-US" sz="1400" dirty="0" smtClean="0"/>
              <a:t>之前有下載過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每次考試時仍要再次下載。</a:t>
            </a:r>
          </a:p>
          <a:p>
            <a:pPr>
              <a:lnSpc>
                <a:spcPct val="150000"/>
              </a:lnSpc>
              <a:buNone/>
            </a:pPr>
            <a:endParaRPr lang="en-US" altLang="zh-TW" sz="1400" dirty="0" smtClean="0"/>
          </a:p>
        </p:txBody>
      </p:sp>
      <p:sp>
        <p:nvSpPr>
          <p:cNvPr id="8" name="矩形 7"/>
          <p:cNvSpPr/>
          <p:nvPr/>
        </p:nvSpPr>
        <p:spPr>
          <a:xfrm>
            <a:off x="1031358" y="1924493"/>
            <a:ext cx="5954233" cy="7442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C:\Users\david.lai\Desktop\Java考卷啟用_預約\Java雲端考試前流程\流程截圖\2023-02-21_1550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2261062" y="2427316"/>
            <a:ext cx="1837113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2. 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畫面標示</a:t>
            </a:r>
            <a:r>
              <a:rPr lang="en-US" altLang="zh-TW" sz="1400" dirty="0" smtClean="0"/>
              <a:t>)Step 2.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開啟</a:t>
            </a:r>
            <a:r>
              <a:rPr lang="zh-TW" altLang="en-US" sz="1400" dirty="0" smtClean="0"/>
              <a:t>並執行安裝官方所要求下載的瀏覽器 </a:t>
            </a:r>
            <a:r>
              <a:rPr lang="en-US" altLang="zh-TW" sz="1400" dirty="0" smtClean="0"/>
              <a:t>Secure </a:t>
            </a:r>
            <a:r>
              <a:rPr lang="en-US" altLang="zh-TW" sz="1400" dirty="0" smtClean="0"/>
              <a:t>Browser</a:t>
            </a:r>
            <a:r>
              <a:rPr lang="zh-TW" altLang="en-US" sz="1400" dirty="0" smtClean="0"/>
              <a:t>。</a:t>
            </a:r>
            <a:endParaRPr lang="en-US" altLang="zh-TW" sz="1400" dirty="0" smtClean="0"/>
          </a:p>
        </p:txBody>
      </p:sp>
      <p:pic>
        <p:nvPicPr>
          <p:cNvPr id="2051" name="Picture 3" descr="C:\Users\david.lai\Desktop\Java考卷啟用_預約\Java雲端考試前流程\流程截圖\2023-02-21_1630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安裝過程</a:t>
            </a:r>
            <a:endParaRPr lang="en-US" altLang="zh-TW" sz="1400" dirty="0" smtClean="0"/>
          </a:p>
        </p:txBody>
      </p:sp>
      <p:pic>
        <p:nvPicPr>
          <p:cNvPr id="3074" name="Picture 2" descr="C:\Users\david.lai\Desktop\Java考卷啟用_預約\Java雲端考試前流程\流程截圖\2023-02-21_16311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安裝過程</a:t>
            </a:r>
            <a:endParaRPr lang="en-US" altLang="zh-TW" sz="1400" dirty="0" smtClean="0"/>
          </a:p>
          <a:p>
            <a:pPr>
              <a:lnSpc>
                <a:spcPct val="150000"/>
              </a:lnSpc>
              <a:buNone/>
            </a:pPr>
            <a:endParaRPr lang="en-US" altLang="zh-TW" sz="1400" dirty="0" smtClean="0"/>
          </a:p>
        </p:txBody>
      </p:sp>
      <p:pic>
        <p:nvPicPr>
          <p:cNvPr id="4098" name="Picture 2" descr="C:\Users\david.lai\Desktop\Java考卷啟用_預約\Java雲端考試前流程\流程截圖\2023-02-21_16313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AutoNum type="arabicPeriod" startAt="3"/>
            </a:pPr>
            <a:r>
              <a:rPr lang="en-US" altLang="zh-TW" sz="1400" dirty="0" smtClean="0"/>
              <a:t>(</a:t>
            </a:r>
            <a:r>
              <a:rPr lang="zh-TW" altLang="en-US" sz="1400" dirty="0" smtClean="0"/>
              <a:t>畫面標示</a:t>
            </a:r>
            <a:r>
              <a:rPr lang="en-US" altLang="zh-TW" sz="1400" dirty="0" smtClean="0"/>
              <a:t>)Step 3</a:t>
            </a:r>
            <a:r>
              <a:rPr lang="en-US" altLang="zh-TW" sz="1400" dirty="0" smtClean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安裝</a:t>
            </a:r>
            <a:r>
              <a:rPr lang="zh-TW" altLang="en-US" sz="1400" dirty="0" smtClean="0"/>
              <a:t>完畢後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點擊 </a:t>
            </a:r>
            <a:r>
              <a:rPr lang="en-US" altLang="zh-TW" sz="1400" dirty="0" smtClean="0"/>
              <a:t>"Test the Secure Browser"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畫面上會出現詢問是否要開啟「</a:t>
            </a:r>
            <a:r>
              <a:rPr lang="en-US" altLang="zh-TW" sz="1400" dirty="0" err="1" smtClean="0"/>
              <a:t>LockDown</a:t>
            </a:r>
            <a:r>
              <a:rPr lang="en-US" altLang="zh-TW" sz="1400" dirty="0" smtClean="0"/>
              <a:t> Browser OEM</a:t>
            </a:r>
            <a:r>
              <a:rPr lang="zh-TW" altLang="en-US" sz="1400" dirty="0" smtClean="0"/>
              <a:t>」，點擊開啟。</a:t>
            </a:r>
            <a:endParaRPr lang="en-US" altLang="zh-TW" sz="1400" dirty="0" smtClean="0"/>
          </a:p>
        </p:txBody>
      </p:sp>
      <p:pic>
        <p:nvPicPr>
          <p:cNvPr id="5122" name="Picture 2" descr="C:\Users\david.lai\Desktop\Java考卷啟用_預約\Java雲端考試前流程\流程截圖\2023-02-21_16334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2227811" y="3566160"/>
            <a:ext cx="1837113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david.lai\Desktop\Java考卷啟用_預約\Java雲端考試前流程\流程截圖\2023-02-21_1636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4. </a:t>
            </a:r>
            <a:r>
              <a:rPr lang="zh-TW" altLang="en-US" sz="1400" dirty="0" smtClean="0"/>
              <a:t>瀏覽器上會出現 </a:t>
            </a:r>
            <a:r>
              <a:rPr lang="en-US" altLang="zh-TW" sz="1400" dirty="0" err="1" smtClean="0"/>
              <a:t>LockDown</a:t>
            </a:r>
            <a:r>
              <a:rPr lang="en-US" altLang="zh-TW" sz="1400" dirty="0" smtClean="0"/>
              <a:t> Browser </a:t>
            </a:r>
            <a:r>
              <a:rPr lang="zh-TW" altLang="en-US" sz="1400" dirty="0" smtClean="0"/>
              <a:t>畫面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等待讀取</a:t>
            </a:r>
            <a:r>
              <a:rPr lang="zh-TW" altLang="en-US" sz="1400" dirty="0" smtClean="0"/>
              <a:t>完成</a:t>
            </a:r>
            <a:r>
              <a:rPr lang="zh-TW" altLang="en-US" sz="1400" dirty="0" smtClean="0"/>
              <a:t>。</a:t>
            </a:r>
            <a:endParaRPr lang="en-US" altLang="zh-TW" sz="14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5. </a:t>
            </a:r>
            <a:r>
              <a:rPr lang="zh-TW" altLang="en-US" sz="1400" dirty="0" smtClean="0"/>
              <a:t>文字顯示 </a:t>
            </a:r>
            <a:r>
              <a:rPr lang="en-US" altLang="zh-TW" sz="1400" dirty="0" smtClean="0"/>
              <a:t>Secure Browser </a:t>
            </a:r>
            <a:r>
              <a:rPr lang="zh-TW" altLang="en-US" sz="1400" dirty="0" smtClean="0"/>
              <a:t>已成功安裝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於提示視窗上點擊 </a:t>
            </a:r>
            <a:r>
              <a:rPr lang="en-US" altLang="zh-TW" sz="1400" dirty="0" smtClean="0"/>
              <a:t>Close Process (</a:t>
            </a:r>
            <a:r>
              <a:rPr lang="zh-TW" altLang="en-US" sz="1400" dirty="0" smtClean="0"/>
              <a:t>畫面不清晰</a:t>
            </a:r>
            <a:r>
              <a:rPr lang="en-US" altLang="zh-TW" sz="1400" dirty="0" smtClean="0"/>
              <a:t>)</a:t>
            </a:r>
            <a:r>
              <a:rPr lang="zh-TW" altLang="en-US" sz="1400" dirty="0" smtClean="0"/>
              <a:t> 。</a:t>
            </a:r>
            <a:endParaRPr lang="en-US" altLang="zh-TW" sz="1400" dirty="0" smtClean="0"/>
          </a:p>
        </p:txBody>
      </p:sp>
      <p:pic>
        <p:nvPicPr>
          <p:cNvPr id="7170" name="Picture 2" descr="C:\Users\david.lai\Desktop\Java考卷啟用_預約\Java雲端考試前流程\流程截圖\2023-02-21_16513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david.lai\Desktop\Java考卷啟用_預約\Java雲端考試前流程\流程截圖\2023-02-21_17024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6.  (</a:t>
            </a:r>
            <a:r>
              <a:rPr lang="zh-TW" altLang="en-US" sz="1400" dirty="0" smtClean="0"/>
              <a:t>畫面標示</a:t>
            </a:r>
            <a:r>
              <a:rPr lang="en-US" altLang="zh-TW" sz="1400" dirty="0" smtClean="0"/>
              <a:t>)Step 4.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        勾</a:t>
            </a:r>
            <a:r>
              <a:rPr lang="zh-TW" altLang="en-US" sz="1400" dirty="0" smtClean="0"/>
              <a:t>選 </a:t>
            </a:r>
            <a:r>
              <a:rPr lang="en-US" altLang="zh-TW" sz="1400" dirty="0" smtClean="0"/>
              <a:t>Secure Browser successfully tested.  </a:t>
            </a:r>
            <a:endParaRPr lang="en-US" altLang="zh-TW" sz="1400" dirty="0" smtClean="0"/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        下方</a:t>
            </a:r>
            <a:r>
              <a:rPr lang="zh-TW" altLang="en-US" sz="1400" dirty="0" smtClean="0"/>
              <a:t>的</a:t>
            </a:r>
            <a:r>
              <a:rPr lang="en-US" altLang="zh-TW" sz="1400" dirty="0" smtClean="0"/>
              <a:t>Start Exam </a:t>
            </a:r>
            <a:r>
              <a:rPr lang="zh-TW" altLang="en-US" sz="1400" dirty="0" smtClean="0"/>
              <a:t>就會顯示</a:t>
            </a:r>
            <a:r>
              <a:rPr lang="zh-TW" altLang="en-US" sz="1400" dirty="0" smtClean="0"/>
              <a:t>綠色</a:t>
            </a:r>
            <a:r>
              <a:rPr lang="zh-TW" altLang="en-US" sz="1400" dirty="0" smtClean="0"/>
              <a:t>。</a:t>
            </a:r>
            <a:endParaRPr lang="en-US" altLang="zh-TW" sz="1400" dirty="0" smtClean="0"/>
          </a:p>
        </p:txBody>
      </p:sp>
      <p:sp>
        <p:nvSpPr>
          <p:cNvPr id="6" name="矩形 5"/>
          <p:cNvSpPr/>
          <p:nvPr/>
        </p:nvSpPr>
        <p:spPr>
          <a:xfrm>
            <a:off x="4247803" y="1695797"/>
            <a:ext cx="1870364" cy="10141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david.lai\Desktop\Java考卷啟用_預約\Java雲端考試前流程\流程截圖\2023-02-21_1702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7. 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畫面標示</a:t>
            </a:r>
            <a:r>
              <a:rPr lang="en-US" altLang="zh-TW" sz="1400" dirty="0" smtClean="0"/>
              <a:t>)Step 5.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	</a:t>
            </a:r>
            <a:r>
              <a:rPr lang="zh-TW" altLang="en-US" sz="1400" dirty="0" smtClean="0"/>
              <a:t>點擊 </a:t>
            </a:r>
            <a:r>
              <a:rPr lang="en-US" altLang="zh-TW" sz="1400" dirty="0" smtClean="0"/>
              <a:t>Start Exam , </a:t>
            </a:r>
            <a:r>
              <a:rPr lang="zh-TW" altLang="en-US" sz="1400" dirty="0" smtClean="0"/>
              <a:t>瀏覽器上方點擊開啟「</a:t>
            </a:r>
            <a:r>
              <a:rPr lang="en-US" altLang="zh-TW" sz="1400" dirty="0" err="1" smtClean="0"/>
              <a:t>LockDown</a:t>
            </a:r>
            <a:r>
              <a:rPr lang="en-US" altLang="zh-TW" sz="1400" dirty="0" smtClean="0"/>
              <a:t> Browser OEM</a:t>
            </a:r>
            <a:r>
              <a:rPr lang="zh-TW" altLang="en-US" sz="1400" dirty="0" smtClean="0"/>
              <a:t>」 並允許</a:t>
            </a:r>
            <a:r>
              <a:rPr lang="en-US" altLang="zh-TW" sz="1400" dirty="0" smtClean="0"/>
              <a:t>APP</a:t>
            </a:r>
            <a:r>
              <a:rPr lang="zh-TW" altLang="en-US" sz="1400" dirty="0" smtClean="0"/>
              <a:t>變更</a:t>
            </a:r>
            <a:r>
              <a:rPr lang="zh-TW" altLang="en-US" sz="1400" dirty="0" smtClean="0"/>
              <a:t>裝置。</a:t>
            </a:r>
            <a:endParaRPr lang="zh-TW" altLang="en-US" sz="1400" dirty="0" smtClean="0"/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	再次出現 </a:t>
            </a:r>
            <a:r>
              <a:rPr lang="en-US" altLang="zh-TW" sz="1400" dirty="0" err="1" smtClean="0"/>
              <a:t>LockDown</a:t>
            </a:r>
            <a:r>
              <a:rPr lang="en-US" altLang="zh-TW" sz="1400" dirty="0" smtClean="0"/>
              <a:t> Browser</a:t>
            </a:r>
            <a:endParaRPr lang="en-US" altLang="zh-TW" sz="1400" dirty="0" smtClean="0"/>
          </a:p>
        </p:txBody>
      </p:sp>
      <p:sp>
        <p:nvSpPr>
          <p:cNvPr id="4" name="矩形 3"/>
          <p:cNvSpPr/>
          <p:nvPr/>
        </p:nvSpPr>
        <p:spPr>
          <a:xfrm>
            <a:off x="4189614" y="2202873"/>
            <a:ext cx="1837113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568930" y="1291244"/>
            <a:ext cx="1837113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8. </a:t>
            </a:r>
            <a:r>
              <a:rPr lang="zh-TW" altLang="en-US" sz="1400" dirty="0" smtClean="0"/>
              <a:t>此時在瀏覽器分頁上會跳出 名為 </a:t>
            </a:r>
            <a:r>
              <a:rPr lang="en-US" altLang="zh-TW" sz="1400" dirty="0" smtClean="0"/>
              <a:t>“Zoom ” </a:t>
            </a:r>
            <a:r>
              <a:rPr lang="zh-TW" altLang="en-US" sz="1400" dirty="0" smtClean="0"/>
              <a:t>的分頁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於提示視窗上點擊 </a:t>
            </a:r>
            <a:r>
              <a:rPr lang="en-US" altLang="zh-TW" sz="1400" dirty="0" smtClean="0"/>
              <a:t>Close Process (</a:t>
            </a:r>
            <a:r>
              <a:rPr lang="zh-TW" altLang="en-US" sz="1400" dirty="0" smtClean="0"/>
              <a:t>畫面不清晰</a:t>
            </a:r>
            <a:r>
              <a:rPr lang="en-US" altLang="zh-TW" sz="1400" dirty="0" smtClean="0"/>
              <a:t>),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 </a:t>
            </a:r>
            <a:r>
              <a:rPr lang="zh-TW" altLang="en-US" sz="1400" dirty="0" smtClean="0"/>
              <a:t>請勿按</a:t>
            </a:r>
            <a:r>
              <a:rPr lang="en-US" altLang="zh-TW" sz="1400" dirty="0" smtClean="0"/>
              <a:t>Exit</a:t>
            </a:r>
            <a:r>
              <a:rPr lang="zh-TW" altLang="en-US" sz="1400" dirty="0" smtClean="0"/>
              <a:t>。</a:t>
            </a:r>
            <a:endParaRPr lang="en-US" altLang="zh-TW" sz="14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Zoom </a:t>
            </a:r>
            <a:r>
              <a:rPr lang="zh-TW" altLang="en-US" sz="1400" dirty="0" smtClean="0"/>
              <a:t>分頁就會出現攝影畫面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畫面上方按下 </a:t>
            </a:r>
            <a:r>
              <a:rPr lang="en-US" altLang="zh-TW" sz="1400" dirty="0" smtClean="0"/>
              <a:t>ACCEPT </a:t>
            </a:r>
            <a:r>
              <a:rPr lang="en-US" altLang="zh-TW" sz="1400" dirty="0" smtClean="0"/>
              <a:t>COOKIES</a:t>
            </a:r>
            <a:r>
              <a:rPr lang="zh-TW" altLang="en-US" sz="1400" dirty="0" smtClean="0"/>
              <a:t>。</a:t>
            </a:r>
            <a:endParaRPr lang="en-US" altLang="zh-TW" sz="1400" dirty="0" smtClean="0"/>
          </a:p>
        </p:txBody>
      </p:sp>
      <p:pic>
        <p:nvPicPr>
          <p:cNvPr id="10242" name="Picture 2" descr="C:\Users\david.lai\Desktop\Java考卷啟用_預約\Java雲端考試前流程\流程截圖\2023-02-21_1709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1166552" y="642851"/>
            <a:ext cx="1111135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388821" y="2225039"/>
            <a:ext cx="1482437" cy="9587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8. </a:t>
            </a:r>
            <a:r>
              <a:rPr lang="zh-TW" altLang="en-US" sz="1400" dirty="0" smtClean="0"/>
              <a:t>此時在瀏覽器分頁上會跳出 名為 </a:t>
            </a:r>
            <a:r>
              <a:rPr lang="en-US" altLang="zh-TW" sz="1400" dirty="0" smtClean="0"/>
              <a:t>"Zoom " </a:t>
            </a:r>
            <a:r>
              <a:rPr lang="zh-TW" altLang="en-US" sz="1400" dirty="0" smtClean="0"/>
              <a:t>的分頁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於提示視窗上點擊 </a:t>
            </a:r>
            <a:r>
              <a:rPr lang="en-US" altLang="zh-TW" sz="1400" dirty="0" smtClean="0"/>
              <a:t>Close Process (</a:t>
            </a:r>
            <a:r>
              <a:rPr lang="zh-TW" altLang="en-US" sz="1400" dirty="0" smtClean="0"/>
              <a:t>畫面不清晰</a:t>
            </a:r>
            <a:r>
              <a:rPr lang="en-US" altLang="zh-TW" sz="1400" dirty="0" smtClean="0"/>
              <a:t>) </a:t>
            </a:r>
            <a:r>
              <a:rPr lang="zh-TW" altLang="en-US" sz="1400" dirty="0" smtClean="0"/>
              <a:t>請勿按</a:t>
            </a:r>
            <a:r>
              <a:rPr lang="en-US" altLang="zh-TW" sz="1400" dirty="0" smtClean="0"/>
              <a:t>Exit</a:t>
            </a:r>
          </a:p>
        </p:txBody>
      </p:sp>
      <p:pic>
        <p:nvPicPr>
          <p:cNvPr id="10242" name="Picture 2" descr="C:\Users\david.lai\Desktop\Java考卷啟用_預約\Java雲端考試前流程\流程截圖\2023-02-21_1709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1166552" y="642851"/>
            <a:ext cx="1111135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388821" y="2225039"/>
            <a:ext cx="1482437" cy="9587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9. Zoom </a:t>
            </a:r>
            <a:r>
              <a:rPr lang="zh-TW" altLang="en-US" sz="1400" dirty="0" smtClean="0"/>
              <a:t>分頁會出現攝影畫面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畫面上方按下 </a:t>
            </a:r>
            <a:r>
              <a:rPr lang="en-US" altLang="zh-TW" sz="1400" dirty="0" smtClean="0"/>
              <a:t>ACCEPT COOKIES</a:t>
            </a:r>
            <a:endParaRPr lang="en-US" altLang="zh-TW" sz="1400" dirty="0" smtClean="0"/>
          </a:p>
        </p:txBody>
      </p:sp>
      <p:pic>
        <p:nvPicPr>
          <p:cNvPr id="11266" name="Picture 2" descr="C:\Users\david.lai\Desktop\Java考卷啟用_預約\Java雲端考試前流程\流程截圖\2023-02-21_17101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3635432" y="1831571"/>
            <a:ext cx="1260764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david.lai\Desktop\Java考卷啟用_預約\Java雲端考試前流程\流程截圖\2023-02-21_1712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10. </a:t>
            </a:r>
            <a:r>
              <a:rPr lang="zh-TW" altLang="en-US" sz="1400" dirty="0" smtClean="0"/>
              <a:t>檢視學員的姓名是否正確之後</a:t>
            </a:r>
            <a:r>
              <a:rPr lang="en-US" altLang="zh-TW" sz="1400" dirty="0" smtClean="0"/>
              <a:t>, </a:t>
            </a:r>
            <a:r>
              <a:rPr lang="zh-TW" altLang="en-US" sz="1400" dirty="0" smtClean="0"/>
              <a:t>點擊 </a:t>
            </a:r>
            <a:r>
              <a:rPr lang="en-US" altLang="zh-TW" sz="1400" dirty="0" smtClean="0"/>
              <a:t>"Join" </a:t>
            </a:r>
            <a:r>
              <a:rPr lang="zh-TW" altLang="en-US" sz="1400" dirty="0" smtClean="0"/>
              <a:t>按鈕</a:t>
            </a:r>
            <a:endParaRPr lang="en-US" altLang="zh-TW" sz="1400" dirty="0" smtClean="0"/>
          </a:p>
        </p:txBody>
      </p:sp>
      <p:sp>
        <p:nvSpPr>
          <p:cNvPr id="4" name="矩形 3"/>
          <p:cNvSpPr/>
          <p:nvPr/>
        </p:nvSpPr>
        <p:spPr>
          <a:xfrm>
            <a:off x="2430086" y="2205643"/>
            <a:ext cx="1260764" cy="457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david.lai\Desktop\Java考卷啟用_預約\Java雲端考試前流程\流程截圖\2023-02-21_1712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Joining </a:t>
            </a:r>
            <a:r>
              <a:rPr lang="en-US" altLang="zh-TW" sz="1400" dirty="0" smtClean="0"/>
              <a:t>Meeting </a:t>
            </a:r>
            <a:r>
              <a:rPr lang="zh-TW" altLang="en-US" sz="1400" dirty="0" smtClean="0"/>
              <a:t>畫面 </a:t>
            </a:r>
            <a:endParaRPr lang="en-US" altLang="zh-TW" sz="1400" dirty="0" smtClean="0"/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稍待</a:t>
            </a:r>
            <a:r>
              <a:rPr lang="zh-TW" altLang="en-US" sz="1400" dirty="0" smtClean="0"/>
              <a:t>後會有一段文字說明</a:t>
            </a:r>
            <a:endParaRPr lang="en-US" altLang="zh-TW" sz="1400" dirty="0" smtClean="0"/>
          </a:p>
          <a:p>
            <a:pPr>
              <a:lnSpc>
                <a:spcPct val="150000"/>
              </a:lnSpc>
              <a:buNone/>
            </a:pPr>
            <a:endParaRPr lang="en-US" altLang="zh-TW" sz="1400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david.lai\Desktop\Java考卷啟用_預約\Java雲端考試前流程\流程截圖\2023-02-21_17195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12.</a:t>
            </a:r>
            <a:r>
              <a:rPr lang="zh-TW" altLang="en-US" sz="1400" dirty="0" smtClean="0"/>
              <a:t> 此</a:t>
            </a:r>
            <a:r>
              <a:rPr lang="zh-TW" altLang="en-US" sz="1400" dirty="0" smtClean="0"/>
              <a:t>文大意：監考官會檢查並引導驗證的程序如下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	</a:t>
            </a:r>
            <a:r>
              <a:rPr lang="en-US" altLang="zh-TW" sz="1400" dirty="0" smtClean="0"/>
              <a:t>(1) </a:t>
            </a:r>
            <a:r>
              <a:rPr lang="zh-TW" altLang="en-US" sz="1400" dirty="0" smtClean="0"/>
              <a:t>準備 </a:t>
            </a:r>
            <a:r>
              <a:rPr lang="en-US" altLang="zh-TW" sz="1400" dirty="0" err="1" smtClean="0"/>
              <a:t>Goverment</a:t>
            </a:r>
            <a:r>
              <a:rPr lang="en-US" altLang="zh-TW" sz="1400" dirty="0" smtClean="0"/>
              <a:t> ID </a:t>
            </a:r>
            <a:r>
              <a:rPr lang="zh-TW" altLang="en-US" sz="1400" dirty="0" smtClean="0"/>
              <a:t>的兩份表格 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應是指身分證正反面</a:t>
            </a:r>
            <a:r>
              <a:rPr lang="en-US" altLang="zh-TW" sz="1400" dirty="0" smtClean="0"/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	(2) </a:t>
            </a:r>
            <a:r>
              <a:rPr lang="zh-TW" altLang="en-US" sz="1400" dirty="0" smtClean="0"/>
              <a:t>打開視訊鏡頭並且確保作用中 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讓監考官可以看到你本人</a:t>
            </a:r>
            <a:r>
              <a:rPr lang="en-US" altLang="zh-TW" sz="1400" dirty="0" smtClean="0"/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	(3) </a:t>
            </a:r>
            <a:r>
              <a:rPr lang="zh-TW" altLang="en-US" sz="1400" dirty="0" smtClean="0"/>
              <a:t>切勿使用虛擬背景 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要確保考試現場是你單獨一人</a:t>
            </a:r>
            <a:r>
              <a:rPr lang="en-US" altLang="zh-TW" sz="1400" dirty="0" smtClean="0"/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	(4) </a:t>
            </a:r>
            <a:r>
              <a:rPr lang="zh-TW" altLang="en-US" sz="1400" dirty="0" smtClean="0"/>
              <a:t>不可行動裝置多餘的裝置與螢幕 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避免有任何衍生問題</a:t>
            </a:r>
            <a:r>
              <a:rPr lang="en-US" altLang="zh-TW" sz="1400" dirty="0" smtClean="0"/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	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400" dirty="0" smtClean="0"/>
              <a:t>	</a:t>
            </a:r>
            <a:r>
              <a:rPr lang="zh-TW" altLang="en-US" sz="1400" dirty="0" smtClean="0"/>
              <a:t>如果有問題可以到這個網址查詢： </a:t>
            </a:r>
            <a:r>
              <a:rPr lang="en-US" altLang="zh-TW" sz="1400" dirty="0" smtClean="0"/>
              <a:t>education.oracle.com/</a:t>
            </a:r>
            <a:r>
              <a:rPr lang="en-US" altLang="zh-TW" sz="1400" dirty="0" err="1" smtClean="0"/>
              <a:t>certificationsupport</a:t>
            </a:r>
            <a:endParaRPr lang="en-US" altLang="zh-TW" sz="14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david.lai\Desktop\Java考卷啟用_預約\Java雲端考試前流程\流程截圖\2023-02-21_17425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2798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400" dirty="0" smtClean="0"/>
              <a:t>進行連線</a:t>
            </a:r>
            <a:endParaRPr lang="en-US" altLang="zh-TW" sz="1400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david.lai\Desktop\Java考卷啟用_預約\Java雲端考試前流程\流程截圖\2023-02-21_1743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200" dirty="0" smtClean="0"/>
              <a:t>13.</a:t>
            </a:r>
            <a:r>
              <a:rPr lang="zh-TW" altLang="en-US" sz="1200" dirty="0" smtClean="0"/>
              <a:t>確認無誤後開始連線</a:t>
            </a:r>
            <a:r>
              <a:rPr lang="en-US" altLang="zh-TW" sz="1200" dirty="0" smtClean="0"/>
              <a:t>, </a:t>
            </a:r>
            <a:r>
              <a:rPr lang="zh-TW" altLang="en-US" sz="1200" dirty="0" smtClean="0"/>
              <a:t>會顯示</a:t>
            </a:r>
            <a:r>
              <a:rPr lang="en-US" altLang="zh-TW" sz="1200" dirty="0" smtClean="0"/>
              <a:t>ZOOM</a:t>
            </a:r>
            <a:r>
              <a:rPr lang="zh-TW" altLang="en-US" sz="1200" dirty="0" smtClean="0"/>
              <a:t>會議畫面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	</a:t>
            </a:r>
            <a:r>
              <a:rPr lang="en-US" altLang="zh-TW" sz="1200" dirty="0" smtClean="0"/>
              <a:t>(1) </a:t>
            </a:r>
            <a:r>
              <a:rPr lang="zh-TW" altLang="en-US" sz="1200" dirty="0" smtClean="0"/>
              <a:t>要求你提供註冊的</a:t>
            </a:r>
            <a:r>
              <a:rPr lang="en-US" altLang="zh-TW" sz="1200" dirty="0" smtClean="0"/>
              <a:t>Email </a:t>
            </a:r>
            <a:r>
              <a:rPr lang="zh-TW" altLang="en-US" sz="1200" dirty="0" smtClean="0"/>
              <a:t>準備身分</a:t>
            </a:r>
            <a:r>
              <a:rPr lang="zh-TW" altLang="en-US" sz="1200" dirty="0" smtClean="0"/>
              <a:t>驗證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	</a:t>
            </a:r>
            <a:r>
              <a:rPr lang="en-US" altLang="zh-TW" sz="1200" dirty="0" smtClean="0"/>
              <a:t>(2) </a:t>
            </a:r>
            <a:r>
              <a:rPr lang="zh-TW" altLang="en-US" sz="1200" dirty="0" smtClean="0"/>
              <a:t>當身分驗證通過後</a:t>
            </a:r>
            <a:r>
              <a:rPr lang="en-US" altLang="zh-TW" sz="1200" dirty="0" smtClean="0"/>
              <a:t>, </a:t>
            </a:r>
            <a:r>
              <a:rPr lang="zh-TW" altLang="en-US" sz="1200" dirty="0" smtClean="0"/>
              <a:t>會在</a:t>
            </a:r>
            <a:r>
              <a:rPr lang="en-US" altLang="zh-TW" sz="1200" dirty="0" smtClean="0"/>
              <a:t>Zoom </a:t>
            </a:r>
            <a:r>
              <a:rPr lang="zh-TW" altLang="en-US" sz="1200" dirty="0" smtClean="0"/>
              <a:t>的聊天室收到</a:t>
            </a:r>
            <a:r>
              <a:rPr lang="en-US" altLang="zh-TW" sz="1200" dirty="0" smtClean="0"/>
              <a:t>6</a:t>
            </a:r>
            <a:r>
              <a:rPr lang="zh-TW" altLang="en-US" sz="1200" dirty="0" smtClean="0"/>
              <a:t>位數的考試使用碼 </a:t>
            </a:r>
            <a:r>
              <a:rPr lang="en-US" altLang="zh-TW" sz="1200" dirty="0" smtClean="0"/>
              <a:t>(Access Code)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200" dirty="0" smtClean="0"/>
              <a:t>	(3) </a:t>
            </a:r>
            <a:r>
              <a:rPr lang="zh-TW" altLang="en-US" sz="1200" dirty="0" smtClean="0"/>
              <a:t>在一開始的瀏覽器分頁 </a:t>
            </a:r>
            <a:r>
              <a:rPr lang="en-US" altLang="zh-TW" sz="1200" dirty="0" smtClean="0"/>
              <a:t>Exam Tab </a:t>
            </a:r>
            <a:r>
              <a:rPr lang="zh-TW" altLang="en-US" sz="1200" dirty="0" smtClean="0"/>
              <a:t>輸入考試使用碼開始考試</a:t>
            </a:r>
            <a:endParaRPr lang="en-US" altLang="zh-TW" sz="1200" dirty="0" smtClean="0"/>
          </a:p>
        </p:txBody>
      </p:sp>
      <p:sp>
        <p:nvSpPr>
          <p:cNvPr id="4" name="矩形 3"/>
          <p:cNvSpPr/>
          <p:nvPr/>
        </p:nvSpPr>
        <p:spPr>
          <a:xfrm>
            <a:off x="1615438" y="2155767"/>
            <a:ext cx="4826925" cy="7536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david.lai\Desktop\Java考卷啟用_預約\Java雲端考試前流程\流程截圖\2023-02-21_1743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	當開始考試的時候請注意</a:t>
            </a:r>
            <a:r>
              <a:rPr lang="en-US" altLang="zh-TW" sz="1200" dirty="0" smtClean="0"/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1200" dirty="0" smtClean="0"/>
              <a:t>	(1) </a:t>
            </a:r>
            <a:r>
              <a:rPr lang="zh-TW" altLang="en-US" sz="1200" dirty="0" smtClean="0"/>
              <a:t>要把</a:t>
            </a:r>
            <a:r>
              <a:rPr lang="en-US" altLang="zh-TW" sz="1200" dirty="0" smtClean="0"/>
              <a:t>Zoom Video </a:t>
            </a:r>
            <a:r>
              <a:rPr lang="zh-TW" altLang="en-US" sz="1200" dirty="0" smtClean="0"/>
              <a:t>設為</a:t>
            </a:r>
            <a:r>
              <a:rPr lang="en-US" altLang="zh-TW" sz="1200" dirty="0" smtClean="0"/>
              <a:t>ON </a:t>
            </a:r>
            <a:r>
              <a:rPr lang="zh-TW" altLang="en-US" sz="1200" dirty="0" smtClean="0"/>
              <a:t>開啟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	</a:t>
            </a:r>
            <a:r>
              <a:rPr lang="en-US" altLang="zh-TW" sz="1200" dirty="0" smtClean="0"/>
              <a:t>(2) </a:t>
            </a:r>
            <a:r>
              <a:rPr lang="zh-TW" altLang="en-US" sz="1200" dirty="0" smtClean="0"/>
              <a:t>關掉虛擬背景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	</a:t>
            </a:r>
            <a:r>
              <a:rPr lang="en-US" altLang="zh-TW" sz="1200" dirty="0" smtClean="0"/>
              <a:t>(3) </a:t>
            </a:r>
            <a:r>
              <a:rPr lang="zh-TW" altLang="en-US" sz="1200" dirty="0" smtClean="0"/>
              <a:t>不可使用耳機</a:t>
            </a:r>
            <a:endParaRPr lang="en-US" altLang="zh-TW" sz="1200" dirty="0" smtClean="0"/>
          </a:p>
        </p:txBody>
      </p:sp>
      <p:sp>
        <p:nvSpPr>
          <p:cNvPr id="4" name="矩形 3"/>
          <p:cNvSpPr/>
          <p:nvPr/>
        </p:nvSpPr>
        <p:spPr>
          <a:xfrm>
            <a:off x="1615438" y="3532909"/>
            <a:ext cx="4826925" cy="6317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david.lai\Desktop\Java考卷啟用_預約\Java雲端考試前流程\流程截圖\2023-02-21_17513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200" dirty="0" smtClean="0"/>
              <a:t>14. </a:t>
            </a:r>
            <a:r>
              <a:rPr lang="zh-TW" altLang="en-US" sz="1200" dirty="0" smtClean="0"/>
              <a:t>打開</a:t>
            </a:r>
            <a:r>
              <a:rPr lang="en-US" altLang="zh-TW" sz="1200" dirty="0" smtClean="0"/>
              <a:t>Zoom </a:t>
            </a:r>
            <a:r>
              <a:rPr lang="zh-TW" altLang="en-US" sz="1200" dirty="0" smtClean="0"/>
              <a:t>聊天對話視窗</a:t>
            </a:r>
            <a:r>
              <a:rPr lang="en-US" altLang="zh-TW" sz="1200" dirty="0" smtClean="0"/>
              <a:t>, </a:t>
            </a:r>
            <a:r>
              <a:rPr lang="zh-TW" altLang="en-US" sz="1200" dirty="0" smtClean="0"/>
              <a:t>監考官會要求你提供註冊的</a:t>
            </a:r>
            <a:r>
              <a:rPr lang="en-US" altLang="zh-TW" sz="1200" dirty="0" smtClean="0"/>
              <a:t>Email, </a:t>
            </a:r>
            <a:r>
              <a:rPr lang="zh-TW" altLang="en-US" sz="1200" dirty="0" smtClean="0"/>
              <a:t>之後便會提供給你一組考試使用碼。</a:t>
            </a:r>
            <a:endParaRPr lang="en-US" altLang="zh-TW" sz="12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david.lai\Desktop\Java考卷啟用_預約\Java雲端考試前流程\流程截圖\2023-02-21_1751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監</a:t>
            </a:r>
            <a:r>
              <a:rPr lang="zh-TW" altLang="en-US" sz="1200" dirty="0" smtClean="0"/>
              <a:t>考官會</a:t>
            </a:r>
            <a:r>
              <a:rPr lang="zh-TW" altLang="en-US" sz="1200" dirty="0" smtClean="0"/>
              <a:t>要求提供註冊</a:t>
            </a:r>
            <a:r>
              <a:rPr lang="en-US" altLang="zh-TW" sz="1200" dirty="0" smtClean="0"/>
              <a:t>Email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david.lai\Desktop\Java考卷啟用_預約\Java雲端考試前流程\流程截圖\2023-02-21_17521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於對話視窗輸入註冊</a:t>
            </a:r>
            <a:r>
              <a:rPr lang="en-US" altLang="zh-TW" sz="1200" dirty="0" smtClean="0"/>
              <a:t>Email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david.lai\Desktop\Java考卷啟用_預約\Java雲端考試前流程\流程截圖\2023-02-21_1756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監考官會提供一組考試使用碼 </a:t>
            </a:r>
            <a:r>
              <a:rPr lang="en-US" altLang="zh-TW" sz="1200" dirty="0" smtClean="0"/>
              <a:t>(Access Code)</a:t>
            </a:r>
            <a:r>
              <a:rPr lang="zh-TW" altLang="en-US" sz="1200" dirty="0" smtClean="0"/>
              <a:t>。</a:t>
            </a:r>
            <a:endParaRPr lang="en-US" altLang="zh-TW" sz="1200" dirty="0" smtClean="0"/>
          </a:p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請記住</a:t>
            </a:r>
            <a:r>
              <a:rPr lang="en-US" altLang="zh-TW" sz="1200" dirty="0" smtClean="0"/>
              <a:t>(</a:t>
            </a:r>
            <a:r>
              <a:rPr lang="zh-TW" altLang="en-US" sz="1200" dirty="0" smtClean="0"/>
              <a:t>或複製</a:t>
            </a:r>
            <a:r>
              <a:rPr lang="en-US" altLang="zh-TW" sz="1200" dirty="0" smtClean="0"/>
              <a:t>)</a:t>
            </a:r>
            <a:r>
              <a:rPr lang="zh-TW" altLang="en-US" sz="1200" dirty="0" smtClean="0"/>
              <a:t>這組使用碼，將會使用它進行考試。</a:t>
            </a:r>
            <a:endParaRPr lang="en-US" altLang="zh-TW" sz="1200" dirty="0" smtClean="0"/>
          </a:p>
        </p:txBody>
      </p:sp>
      <p:sp>
        <p:nvSpPr>
          <p:cNvPr id="4" name="矩形 3"/>
          <p:cNvSpPr/>
          <p:nvPr/>
        </p:nvSpPr>
        <p:spPr>
          <a:xfrm>
            <a:off x="6176357" y="1379913"/>
            <a:ext cx="1596044" cy="43226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david.lai\Desktop\Java考卷啟用_預約\Java雲端考試前流程\流程截圖\2023-02-21_1758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200" dirty="0" smtClean="0"/>
              <a:t>15. </a:t>
            </a:r>
            <a:r>
              <a:rPr lang="zh-TW" altLang="en-US" sz="1200" dirty="0" smtClean="0"/>
              <a:t>回到瀏覽器</a:t>
            </a:r>
            <a:r>
              <a:rPr lang="en-US" altLang="zh-TW" sz="1200" dirty="0" smtClean="0"/>
              <a:t>Exam</a:t>
            </a:r>
            <a:r>
              <a:rPr lang="zh-TW" altLang="en-US" sz="1200" dirty="0" smtClean="0"/>
              <a:t>的分</a:t>
            </a:r>
            <a:r>
              <a:rPr lang="zh-TW" altLang="en-US" sz="1200" dirty="0" smtClean="0"/>
              <a:t>頁</a:t>
            </a:r>
            <a:endParaRPr lang="en-US" altLang="zh-TW" sz="1200" dirty="0" smtClean="0"/>
          </a:p>
        </p:txBody>
      </p:sp>
      <p:sp>
        <p:nvSpPr>
          <p:cNvPr id="4" name="矩形 3"/>
          <p:cNvSpPr/>
          <p:nvPr/>
        </p:nvSpPr>
        <p:spPr>
          <a:xfrm>
            <a:off x="49878" y="374073"/>
            <a:ext cx="1172095" cy="42394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在畫面下方輸入剛才的 </a:t>
            </a:r>
            <a:r>
              <a:rPr lang="en-US" altLang="zh-TW" sz="1200" dirty="0" smtClean="0"/>
              <a:t>Exam Access Code, </a:t>
            </a:r>
            <a:r>
              <a:rPr lang="zh-TW" altLang="en-US" sz="1200" dirty="0" smtClean="0"/>
              <a:t>點擊</a:t>
            </a:r>
            <a:r>
              <a:rPr lang="en-US" altLang="zh-TW" sz="1200" dirty="0" smtClean="0"/>
              <a:t>Continue Test, </a:t>
            </a:r>
            <a:r>
              <a:rPr lang="zh-TW" altLang="en-US" sz="1200" dirty="0" smtClean="0"/>
              <a:t>進入考試。</a:t>
            </a:r>
            <a:endParaRPr lang="en-US" altLang="zh-TW" sz="1200" dirty="0" smtClean="0"/>
          </a:p>
        </p:txBody>
      </p:sp>
      <p:pic>
        <p:nvPicPr>
          <p:cNvPr id="22530" name="Picture 2" descr="C:\Users\david.lai\Desktop\Java考卷啟用_預約\Java雲端考試前流程\流程截圖\2023-02-21_1802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814649" y="3266902"/>
            <a:ext cx="1729046" cy="5985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394365" y="3610494"/>
            <a:ext cx="1003068" cy="54586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david.lai\Desktop\Java考卷啟用_預約\Java雲端考試前流程\流程截圖\2023-02-21_18033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00" y="180000"/>
            <a:ext cx="8001000" cy="4533900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818" y="4879572"/>
            <a:ext cx="11690015" cy="1712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200" dirty="0" smtClean="0"/>
              <a:t>16. </a:t>
            </a:r>
            <a:r>
              <a:rPr lang="zh-TW" altLang="en-US" sz="1200" dirty="0" smtClean="0"/>
              <a:t>進入考試時 直接開始</a:t>
            </a:r>
            <a:r>
              <a:rPr lang="en-US" altLang="zh-TW" sz="1200" dirty="0" smtClean="0"/>
              <a:t>2</a:t>
            </a:r>
            <a:r>
              <a:rPr lang="zh-TW" altLang="en-US" sz="1200" dirty="0" smtClean="0"/>
              <a:t>小時倒數</a:t>
            </a:r>
            <a:r>
              <a:rPr lang="en-US" altLang="zh-TW" sz="1200" dirty="0" smtClean="0"/>
              <a:t>, </a:t>
            </a:r>
            <a:r>
              <a:rPr lang="zh-TW" altLang="en-US" sz="1200" dirty="0" smtClean="0"/>
              <a:t>有時監考官會在</a:t>
            </a:r>
            <a:r>
              <a:rPr lang="en-US" altLang="zh-TW" sz="1200" dirty="0" smtClean="0"/>
              <a:t>Zoom </a:t>
            </a:r>
            <a:r>
              <a:rPr lang="zh-TW" altLang="en-US" sz="1200" dirty="0" smtClean="0"/>
              <a:t>分頁用文字訊息要求考生看鏡頭</a:t>
            </a:r>
            <a:r>
              <a:rPr lang="en-US" altLang="zh-TW" sz="1200" dirty="0" smtClean="0"/>
              <a:t>, </a:t>
            </a:r>
            <a:r>
              <a:rPr lang="zh-TW" altLang="en-US" sz="1200" dirty="0" smtClean="0"/>
              <a:t>稍微留意訊息即可。</a:t>
            </a:r>
            <a:r>
              <a:rPr lang="en-US" altLang="zh-TW" sz="1200" dirty="0" smtClean="0"/>
              <a:t>(</a:t>
            </a:r>
            <a:r>
              <a:rPr lang="zh-TW" altLang="en-US" sz="1200" dirty="0" smtClean="0"/>
              <a:t>非強制性</a:t>
            </a:r>
            <a:r>
              <a:rPr lang="en-US" altLang="zh-TW" sz="1200" dirty="0" smtClean="0"/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zh-TW" altLang="en-US" sz="1200" dirty="0" smtClean="0"/>
              <a:t>考試</a:t>
            </a:r>
            <a:r>
              <a:rPr lang="zh-TW" altLang="en-US" sz="1200" dirty="0" smtClean="0"/>
              <a:t>結束後</a:t>
            </a:r>
            <a:r>
              <a:rPr lang="en-US" altLang="zh-TW" sz="1200" dirty="0" smtClean="0"/>
              <a:t>, </a:t>
            </a:r>
            <a:r>
              <a:rPr lang="zh-TW" altLang="en-US" sz="1200" dirty="0" smtClean="0"/>
              <a:t>視窗就會自動關閉。</a:t>
            </a:r>
            <a:endParaRPr lang="en-US" altLang="zh-TW" sz="1200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新版簡報_2022_巨匠教育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2000" b="1" dirty="0" smtClean="0">
            <a:latin typeface="微軟正黑體" pitchFamily="34" charset="-120"/>
            <a:ea typeface="微軟正黑體" pitchFamily="34" charset="-12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新版簡報_2022_巨匠教育</Template>
  <TotalTime>912</TotalTime>
  <Words>501</Words>
  <Application>Microsoft Office PowerPoint</Application>
  <PresentationFormat>自訂</PresentationFormat>
  <Paragraphs>52</Paragraphs>
  <Slides>27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28" baseType="lpstr">
      <vt:lpstr>新版簡報_2022_巨匠教育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  <vt:lpstr>投影片 22</vt:lpstr>
      <vt:lpstr>投影片 23</vt:lpstr>
      <vt:lpstr>投影片 24</vt:lpstr>
      <vt:lpstr>投影片 25</vt:lpstr>
      <vt:lpstr>投影片 26</vt:lpstr>
      <vt:lpstr>投影片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Kanny</dc:creator>
  <cp:lastModifiedBy>david.lai</cp:lastModifiedBy>
  <cp:revision>99</cp:revision>
  <dcterms:created xsi:type="dcterms:W3CDTF">2022-03-23T03:58:11Z</dcterms:created>
  <dcterms:modified xsi:type="dcterms:W3CDTF">2023-02-22T08:57:52Z</dcterms:modified>
</cp:coreProperties>
</file>